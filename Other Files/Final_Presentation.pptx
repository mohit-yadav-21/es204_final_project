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73" r:id="rId6"/>
    <p:sldId id="258" r:id="rId7"/>
    <p:sldId id="269" r:id="rId8"/>
    <p:sldId id="270" r:id="rId9"/>
    <p:sldId id="272" r:id="rId10"/>
    <p:sldId id="257" r:id="rId11"/>
    <p:sldId id="259" r:id="rId12"/>
    <p:sldId id="260" r:id="rId13"/>
    <p:sldId id="261" r:id="rId14"/>
    <p:sldId id="262" r:id="rId15"/>
    <p:sldId id="265" r:id="rId16"/>
    <p:sldId id="263" r:id="rId17"/>
    <p:sldId id="264" r:id="rId18"/>
    <p:sldId id="275" r:id="rId19"/>
    <p:sldId id="276" r:id="rId20"/>
    <p:sldId id="278" r:id="rId21"/>
    <p:sldId id="280" r:id="rId22"/>
    <p:sldId id="282" r:id="rId23"/>
    <p:sldId id="281" r:id="rId24"/>
    <p:sldId id="283" r:id="rId25"/>
    <p:sldId id="266" r:id="rId26"/>
    <p:sldId id="286" r:id="rId27"/>
    <p:sldId id="287" r:id="rId28"/>
    <p:sldId id="284" r:id="rId29"/>
    <p:sldId id="285" r:id="rId30"/>
    <p:sldId id="289" r:id="rId31"/>
    <p:sldId id="291" r:id="rId32"/>
    <p:sldId id="293" r:id="rId33"/>
    <p:sldId id="294" r:id="rId3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C279CF1-0CCB-4153-B539-895D50DB8770}" v="2431" dt="2025-04-17T08:11:16.428"/>
    <p1510:client id="{FD2AE5F2-4DA1-7D9B-4074-8B1DE03A6458}" v="3" dt="2025-04-18T17:55:22.37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1301" y="31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microsoft.com/office/2015/10/relationships/revisionInfo" Target="revisionInfo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presProps" Target="pres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2A77F-EDA5-4F12-997E-4591BAC7A003}" type="datetimeFigureOut">
              <a:rPr lang="en-US" smtClean="0"/>
              <a:t>4/18/2025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6E2B3-8D55-4BC0-8E6D-601D952280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8816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2A77F-EDA5-4F12-997E-4591BAC7A003}" type="datetimeFigureOut">
              <a:rPr lang="en-US" smtClean="0"/>
              <a:t>4/18/2025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6E2B3-8D55-4BC0-8E6D-601D952280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43150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2A77F-EDA5-4F12-997E-4591BAC7A003}" type="datetimeFigureOut">
              <a:rPr lang="en-US" smtClean="0"/>
              <a:t>4/18/2025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6E2B3-8D55-4BC0-8E6D-601D952280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85301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2A77F-EDA5-4F12-997E-4591BAC7A003}" type="datetimeFigureOut">
              <a:rPr lang="en-US" smtClean="0"/>
              <a:t>4/18/2025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6E2B3-8D55-4BC0-8E6D-601D952280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142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2A77F-EDA5-4F12-997E-4591BAC7A003}" type="datetimeFigureOut">
              <a:rPr lang="en-US" smtClean="0"/>
              <a:t>4/18/2025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6E2B3-8D55-4BC0-8E6D-601D952280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57204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2A77F-EDA5-4F12-997E-4591BAC7A003}" type="datetimeFigureOut">
              <a:rPr lang="en-US" smtClean="0"/>
              <a:t>4/18/2025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6E2B3-8D55-4BC0-8E6D-601D952280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4744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2A77F-EDA5-4F12-997E-4591BAC7A003}" type="datetimeFigureOut">
              <a:rPr lang="en-US" smtClean="0"/>
              <a:t>4/18/2025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6E2B3-8D55-4BC0-8E6D-601D952280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62472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2A77F-EDA5-4F12-997E-4591BAC7A003}" type="datetimeFigureOut">
              <a:rPr lang="en-US" smtClean="0"/>
              <a:t>4/18/2025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6E2B3-8D55-4BC0-8E6D-601D952280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78726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2A77F-EDA5-4F12-997E-4591BAC7A003}" type="datetimeFigureOut">
              <a:rPr lang="en-US" smtClean="0"/>
              <a:t>4/18/2025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6E2B3-8D55-4BC0-8E6D-601D952280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9885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2A77F-EDA5-4F12-997E-4591BAC7A003}" type="datetimeFigureOut">
              <a:rPr lang="en-US" smtClean="0"/>
              <a:t>4/18/2025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6E2B3-8D55-4BC0-8E6D-601D952280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70880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2A77F-EDA5-4F12-997E-4591BAC7A003}" type="datetimeFigureOut">
              <a:rPr lang="en-US" smtClean="0"/>
              <a:t>4/18/2025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6E2B3-8D55-4BC0-8E6D-601D952280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84883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12A77F-EDA5-4F12-997E-4591BAC7A003}" type="datetimeFigureOut">
              <a:rPr lang="en-US" smtClean="0"/>
              <a:t>4/18/2025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A6E2B3-8D55-4BC0-8E6D-601D952280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25173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hyperlink" Target="https://iitgnacin-my.sharepoint.com/:f:/g/personal/23110207_iitgn_ac_in/Epcz5gzxI7RKm7uqvrsUTH8BKhkDLiXcI5wY0NY-FzVY1g?e=RLCn3X" TargetMode="Externa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eJHvqrlMWpc" TargetMode="External"/><Relationship Id="rId2" Type="http://schemas.openxmlformats.org/officeDocument/2006/relationships/hyperlink" Target="https://github.com/Shubhayu-Das/UART-basys3/blob/main/UART_RX_TX.srcs/sources_1/imports/UART_RX/uart_rx.v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slideshare.net/slideshow/systolic-array/69786558" TargetMode="External"/><Relationship Id="rId4" Type="http://schemas.openxmlformats.org/officeDocument/2006/relationships/hyperlink" Target="https://telesens.co/2018/07/30/systolic-architectures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522935"/>
            <a:ext cx="12192000" cy="2387600"/>
          </a:xfrm>
        </p:spPr>
        <p:txBody>
          <a:bodyPr>
            <a:normAutofit/>
          </a:bodyPr>
          <a:lstStyle/>
          <a:p>
            <a:r>
              <a:rPr lang="en-US"/>
              <a:t>Systolic Arrays</a:t>
            </a:r>
            <a:br>
              <a:rPr lang="en-US"/>
            </a:b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728210"/>
            <a:ext cx="9144000" cy="1655762"/>
          </a:xfrm>
        </p:spPr>
        <p:txBody>
          <a:bodyPr/>
          <a:lstStyle/>
          <a:p>
            <a:r>
              <a:rPr lang="en-US"/>
              <a:t>Matrix Multiplication using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EAB5115-EFDA-0D32-0592-D26D6FEEE2AC}"/>
              </a:ext>
            </a:extLst>
          </p:cNvPr>
          <p:cNvSpPr txBox="1"/>
          <p:nvPr/>
        </p:nvSpPr>
        <p:spPr>
          <a:xfrm>
            <a:off x="0" y="2649894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/>
              <a:t>ES 204 : Digital Systems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1BD3F58-C193-C828-981D-DCF1BEFEDE4C}"/>
              </a:ext>
            </a:extLst>
          </p:cNvPr>
          <p:cNvSpPr txBox="1"/>
          <p:nvPr/>
        </p:nvSpPr>
        <p:spPr>
          <a:xfrm>
            <a:off x="0" y="2971800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/>
              <a:t>Project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409F0D9-2C83-57B2-DA1B-3AD0D7A47EC6}"/>
              </a:ext>
            </a:extLst>
          </p:cNvPr>
          <p:cNvSpPr txBox="1"/>
          <p:nvPr/>
        </p:nvSpPr>
        <p:spPr>
          <a:xfrm>
            <a:off x="0" y="3900196"/>
            <a:ext cx="1219199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/>
              <a:t>23110207: Mohit</a:t>
            </a:r>
          </a:p>
          <a:p>
            <a:pPr algn="ctr"/>
            <a:r>
              <a:rPr lang="en-IN"/>
              <a:t>23110329: Tanishq Bhushan Chaudhari</a:t>
            </a:r>
          </a:p>
          <a:p>
            <a:pPr algn="ctr"/>
            <a:r>
              <a:rPr lang="en-IN"/>
              <a:t>23110335: Tejas Lohia</a:t>
            </a:r>
          </a:p>
          <a:p>
            <a:pPr algn="ctr"/>
            <a:r>
              <a:rPr lang="en-IN"/>
              <a:t>23110373: Zainab Kapadia</a:t>
            </a:r>
          </a:p>
        </p:txBody>
      </p:sp>
    </p:spTree>
    <p:extLst>
      <p:ext uri="{BB962C8B-B14F-4D97-AF65-F5344CB8AC3E}">
        <p14:creationId xmlns:p14="http://schemas.microsoft.com/office/powerpoint/2010/main" val="23361000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7FA4AE-2D86-8C42-F385-9FDF0984CD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2222D-D17C-C955-7BBD-159900E6F5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IN" dirty="0">
                <a:ea typeface="+mn-lt"/>
                <a:cs typeface="+mn-lt"/>
              </a:rPr>
              <a:t>Implementation of 3 x 3 Matrix multiplication using systolic array and implementation of UART to operate these modules using a python script on a computer.</a:t>
            </a:r>
            <a:endParaRPr lang="en-IN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348062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3 x 3 Matrix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4013200" cy="2886075"/>
              </a:xfrm>
            </p:spPr>
            <p:txBody>
              <a:bodyPr>
                <a:normAutofit/>
              </a:bodyPr>
              <a:lstStyle/>
              <a:p>
                <a:r>
                  <a:rPr lang="en-US"/>
                  <a:t>A = </a:t>
                </a:r>
                <a14:m>
                  <m:oMath xmlns:m="http://schemas.openxmlformats.org/officeDocument/2006/math">
                    <m:m>
                      <m:mPr>
                        <m:mcs>
                          <m:mc>
                            <m:mcPr>
                              <m:count m:val="3"/>
                              <m:mcJc m:val="center"/>
                            </m:mcPr>
                          </m:mc>
                        </m:mcs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mPr>
                      <m:mr>
                        <m:e>
                          <m:r>
                            <m:rPr>
                              <m:brk m:alnAt="7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00</m:t>
                          </m:r>
                        </m: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01</m:t>
                          </m:r>
                        </m: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02</m:t>
                          </m:r>
                        </m:e>
                      </m:mr>
                      <m:m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e>
                      </m:mr>
                      <m:m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20</m:t>
                          </m:r>
                        </m: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21</m:t>
                          </m:r>
                        </m: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22</m:t>
                          </m:r>
                        </m:e>
                      </m:mr>
                    </m:m>
                  </m:oMath>
                </a14:m>
                <a:endParaRPr lang="en-US" b="0"/>
              </a:p>
              <a:p>
                <a:endParaRPr lang="en-US"/>
              </a:p>
              <a:p>
                <a:r>
                  <a:rPr lang="en-US"/>
                  <a:t>B = </a:t>
                </a:r>
                <a14:m>
                  <m:oMath xmlns:m="http://schemas.openxmlformats.org/officeDocument/2006/math">
                    <m:m>
                      <m:mPr>
                        <m:mcs>
                          <m:mc>
                            <m:mcPr>
                              <m:count m:val="3"/>
                              <m:mcJc m:val="center"/>
                            </m:mcPr>
                          </m:mc>
                        </m:mcs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mPr>
                      <m:mr>
                        <m:e>
                          <m:r>
                            <m:rPr>
                              <m:brk m:alnAt="7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00</m:t>
                          </m:r>
                        </m: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01</m:t>
                          </m:r>
                        </m: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02</m:t>
                          </m:r>
                        </m:e>
                      </m:mr>
                      <m:m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e>
                      </m:mr>
                      <m:m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20</m:t>
                          </m:r>
                        </m: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21</m:t>
                          </m:r>
                        </m: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22</m:t>
                          </m:r>
                        </m:e>
                      </m:mr>
                    </m:m>
                  </m:oMath>
                </a14:m>
                <a:endParaRPr lang="en-US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4013200" cy="2886075"/>
              </a:xfrm>
              <a:blipFill>
                <a:blip r:embed="rId2"/>
                <a:stretch>
                  <a:fillRect l="-27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710006" y="5076849"/>
                <a:ext cx="10771988" cy="91749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 </m:t>
                      </m:r>
                      <m:m>
                        <m:mPr>
                          <m:mcs>
                            <m:mc>
                              <m:mcPr>
                                <m:count m:val="3"/>
                                <m:mcJc m:val="center"/>
                              </m:mcPr>
                            </m:mc>
                          </m:mcs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brk m:alnAt="7"/>
                              </m:r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00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00+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01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10+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02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20</m:t>
                            </m:r>
                          </m:e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00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01+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01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11+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02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21</m:t>
                            </m:r>
                          </m:e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00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02+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01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12+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02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22</m:t>
                            </m:r>
                          </m:e>
                        </m:mr>
                        <m:m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10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00+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11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10+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12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20</m:t>
                            </m:r>
                          </m:e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10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01+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11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11+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12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21</m:t>
                            </m:r>
                          </m:e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10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02+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11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12+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12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22</m:t>
                            </m:r>
                          </m:e>
                        </m:mr>
                        <m:m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20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00+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21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10+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22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20</m:t>
                            </m:r>
                          </m:e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20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01+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21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11+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22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21</m:t>
                            </m:r>
                          </m:e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20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02+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21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12+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22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22</m:t>
                            </m:r>
                          </m:e>
                        </m:mr>
                      </m:m>
                    </m:oMath>
                  </m:oMathPara>
                </a14:m>
                <a:endParaRPr lang="en-US" sz="200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0006" y="5076849"/>
                <a:ext cx="10771988" cy="91749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7137400" y="2714664"/>
                <a:ext cx="1767535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𝑡𝑖𝑚𝑒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=3 ∗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−2</m:t>
                      </m:r>
                    </m:oMath>
                  </m:oMathPara>
                </a14:m>
                <a:endParaRPr lang="en-US" b="0" dirty="0"/>
              </a:p>
              <a:p>
                <a:pPr algn="ctr"/>
                <a:r>
                  <a:rPr lang="en-US" dirty="0"/>
                  <a:t>For n x n matrix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37400" y="2714664"/>
                <a:ext cx="1767535" cy="553998"/>
              </a:xfrm>
              <a:prstGeom prst="rect">
                <a:avLst/>
              </a:prstGeom>
              <a:blipFill>
                <a:blip r:embed="rId4"/>
                <a:stretch>
                  <a:fillRect l="-2759" r="-2414" b="-252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973932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3615BCD-28E4-2732-106E-7C1BB6DE6D0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75756" y="2069962"/>
            <a:ext cx="10640488" cy="1771908"/>
          </a:xfrm>
        </p:spPr>
      </p:pic>
    </p:spTree>
    <p:extLst>
      <p:ext uri="{BB962C8B-B14F-4D97-AF65-F5344CB8AC3E}">
        <p14:creationId xmlns:p14="http://schemas.microsoft.com/office/powerpoint/2010/main" val="37947634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5009B44-419E-56F5-8E5E-442D5DAA864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53063" y="1999848"/>
            <a:ext cx="10771185" cy="2124144"/>
          </a:xfrm>
        </p:spPr>
      </p:pic>
    </p:spTree>
    <p:extLst>
      <p:ext uri="{BB962C8B-B14F-4D97-AF65-F5344CB8AC3E}">
        <p14:creationId xmlns:p14="http://schemas.microsoft.com/office/powerpoint/2010/main" val="5708392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9E66E33-2844-9B5C-0EE2-7971A13CEE1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389694" y="2301389"/>
            <a:ext cx="7097882" cy="4351338"/>
          </a:xfr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D974FE8-88AB-E752-CD30-DC9D02E9B8C2}"/>
                  </a:ext>
                </a:extLst>
              </p:cNvPr>
              <p:cNvSpPr txBox="1"/>
              <p:nvPr/>
            </p:nvSpPr>
            <p:spPr>
              <a:xfrm>
                <a:off x="5806511" y="226807"/>
                <a:ext cx="7674840" cy="22467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i="1" smtClean="0">
                          <a:latin typeface="Cambria Math" panose="02040503050406030204" pitchFamily="18" charset="0"/>
                        </a:rPr>
                        <m:t>                                            </m:t>
                      </m:r>
                      <m:r>
                        <m:rPr>
                          <m:brk m:alnAt="7"/>
                        </m:rPr>
                        <a:rPr lang="en-US" sz="2800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IN" sz="2800" b="0" i="1" smtClean="0">
                          <a:latin typeface="Cambria Math" panose="02040503050406030204" pitchFamily="18" charset="0"/>
                        </a:rPr>
                        <m:t>22</m:t>
                      </m:r>
                    </m:oMath>
                  </m:oMathPara>
                </a14:m>
                <a:endParaRPr lang="en-IN" sz="2800" b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i="1" smtClean="0">
                          <a:latin typeface="Cambria Math" panose="02040503050406030204" pitchFamily="18" charset="0"/>
                        </a:rPr>
                        <m:t>                     </m:t>
                      </m:r>
                      <m:r>
                        <m:rPr>
                          <m:brk m:alnAt="7"/>
                        </m:rPr>
                        <a:rPr lang="en-US" sz="2800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IN" sz="2800" b="0" i="1" smtClean="0">
                          <a:latin typeface="Cambria Math" panose="02040503050406030204" pitchFamily="18" charset="0"/>
                        </a:rPr>
                        <m:t>21               </m:t>
                      </m:r>
                      <m:r>
                        <a:rPr lang="en-IN" sz="2800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IN" sz="2800" b="0" i="1" smtClean="0">
                          <a:latin typeface="Cambria Math" panose="02040503050406030204" pitchFamily="18" charset="0"/>
                        </a:rPr>
                        <m:t>12</m:t>
                      </m:r>
                    </m:oMath>
                  </m:oMathPara>
                </a14:m>
                <a:endParaRPr lang="en-IN" sz="2800" b="0"/>
              </a:p>
              <a:p>
                <a14:m>
                  <m:oMath xmlns:m="http://schemas.openxmlformats.org/officeDocument/2006/math">
                    <m:r>
                      <m:rPr>
                        <m:brk m:alnAt="7"/>
                      </m:rPr>
                      <a:rPr lang="en-US" sz="28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800" b="0" i="1" smtClean="0">
                        <a:latin typeface="Cambria Math" panose="02040503050406030204" pitchFamily="18" charset="0"/>
                      </a:rPr>
                      <m:t>20             </m:t>
                    </m:r>
                    <m:r>
                      <m:rPr>
                        <m:brk m:alnAt="7"/>
                      </m:rPr>
                      <a:rPr lang="en-US" sz="2800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800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IN" sz="2800" i="1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2800"/>
                  <a:t> </a:t>
                </a:r>
                <a14:m>
                  <m:oMath xmlns:m="http://schemas.openxmlformats.org/officeDocument/2006/math">
                    <m:r>
                      <a:rPr lang="en-IN" sz="2800" b="0" i="0" smtClean="0">
                        <a:latin typeface="Cambria Math" panose="02040503050406030204" pitchFamily="18" charset="0"/>
                      </a:rPr>
                      <m:t>              </m:t>
                    </m:r>
                    <m:r>
                      <m:rPr>
                        <m:brk m:alnAt="7"/>
                      </m:rPr>
                      <a:rPr lang="en-US" sz="2800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800" b="0" i="1" smtClean="0">
                        <a:latin typeface="Cambria Math" panose="02040503050406030204" pitchFamily="18" charset="0"/>
                      </a:rPr>
                      <m:t>02</m:t>
                    </m:r>
                  </m:oMath>
                </a14:m>
                <a:endParaRPr lang="en-IN" sz="2800" b="0" i="1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brk m:alnAt="7"/>
                        </m:rPr>
                        <a:rPr lang="en-US" sz="2800" i="1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IN" sz="2800" b="0" i="1" smtClean="0">
                          <a:latin typeface="Cambria Math" panose="02040503050406030204" pitchFamily="18" charset="0"/>
                        </a:rPr>
                        <m:t>10             </m:t>
                      </m:r>
                      <m:r>
                        <a:rPr lang="en-IN" sz="2800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IN" sz="2800" b="0" i="1" smtClean="0">
                          <a:latin typeface="Cambria Math" panose="02040503050406030204" pitchFamily="18" charset="0"/>
                        </a:rPr>
                        <m:t>01</m:t>
                      </m:r>
                    </m:oMath>
                  </m:oMathPara>
                </a14:m>
                <a:endParaRPr lang="en-IN" sz="2800" b="0" i="1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brk m:alnAt="7"/>
                        </m:rPr>
                        <a:rPr lang="en-US" sz="2800" i="1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IN" sz="2800" b="0" i="1" smtClean="0">
                          <a:latin typeface="Cambria Math" panose="02040503050406030204" pitchFamily="18" charset="0"/>
                        </a:rPr>
                        <m:t>00</m:t>
                      </m:r>
                      <m:r>
                        <a:rPr lang="en-IN" sz="2800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IN" sz="280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D974FE8-88AB-E752-CD30-DC9D02E9B8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06511" y="226807"/>
                <a:ext cx="7674840" cy="224676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15F6F0F-4B00-7A24-7B2E-9B850151EC15}"/>
                  </a:ext>
                </a:extLst>
              </p:cNvPr>
              <p:cNvSpPr txBox="1"/>
              <p:nvPr/>
            </p:nvSpPr>
            <p:spPr>
              <a:xfrm>
                <a:off x="206775" y="2785195"/>
                <a:ext cx="5385994" cy="29952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8000"/>
                  </a:lnSpc>
                </a:pPr>
                <a14:m>
                  <m:oMath xmlns:m="http://schemas.openxmlformats.org/officeDocument/2006/math">
                    <m:r>
                      <a:rPr lang="en-IN" sz="2800" b="0" i="1" smtClean="0">
                        <a:latin typeface="Cambria Math" panose="02040503050406030204" pitchFamily="18" charset="0"/>
                      </a:rPr>
                      <m:t>                          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02</m:t>
                    </m:r>
                  </m:oMath>
                </a14:m>
                <a:r>
                  <a:rPr lang="en-IN" sz="2800"/>
                  <a:t> </a:t>
                </a:r>
                <a14:m>
                  <m:oMath xmlns:m="http://schemas.openxmlformats.org/officeDocument/2006/math">
                    <m:r>
                      <a:rPr lang="en-IN" sz="28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01</m:t>
                    </m:r>
                  </m:oMath>
                </a14:m>
                <a:r>
                  <a:rPr lang="en-IN" sz="2800"/>
                  <a:t> </a:t>
                </a:r>
                <a14:m>
                  <m:oMath xmlns:m="http://schemas.openxmlformats.org/officeDocument/2006/math">
                    <m:r>
                      <a:rPr lang="en-IN" sz="28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00</m:t>
                    </m:r>
                  </m:oMath>
                </a14:m>
                <a:endParaRPr lang="en-IN" sz="2800"/>
              </a:p>
              <a:p>
                <a:pPr>
                  <a:lnSpc>
                    <a:spcPts val="8000"/>
                  </a:lnSpc>
                </a:pPr>
                <a14:m>
                  <m:oMath xmlns:m="http://schemas.openxmlformats.org/officeDocument/2006/math">
                    <m:r>
                      <a:rPr lang="en-IN" sz="2800" b="0" i="1" smtClean="0">
                        <a:latin typeface="Cambria Math" panose="02040503050406030204" pitchFamily="18" charset="0"/>
                      </a:rPr>
                      <m:t>                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800" b="0" i="1" smtClean="0">
                        <a:latin typeface="Cambria Math" panose="02040503050406030204" pitchFamily="18" charset="0"/>
                      </a:rPr>
                      <m:t>12  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800" b="0" i="1" smtClean="0"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lang="en-IN" sz="2800"/>
                  <a:t> </a:t>
                </a:r>
                <a14:m>
                  <m:oMath xmlns:m="http://schemas.openxmlformats.org/officeDocument/2006/math">
                    <m:r>
                      <a:rPr lang="en-IN" sz="28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800" b="0" i="1" smtClean="0"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lang="en-IN" sz="2800"/>
                  <a:t> </a:t>
                </a:r>
              </a:p>
              <a:p>
                <a:pPr>
                  <a:lnSpc>
                    <a:spcPts val="8000"/>
                  </a:lnSpc>
                </a:pPr>
                <a14:m>
                  <m:oMath xmlns:m="http://schemas.openxmlformats.org/officeDocument/2006/math">
                    <m:r>
                      <a:rPr lang="en-IN" sz="2800" b="0" i="1" smtClean="0">
                        <a:latin typeface="Cambria Math" panose="02040503050406030204" pitchFamily="18" charset="0"/>
                      </a:rPr>
                      <m:t>      </m:t>
                    </m:r>
                    <m:r>
                      <a:rPr lang="en-IN" sz="28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800" b="0" i="1" smtClean="0">
                        <a:latin typeface="Cambria Math" panose="02040503050406030204" pitchFamily="18" charset="0"/>
                      </a:rPr>
                      <m:t>22  </m:t>
                    </m:r>
                    <m:r>
                      <a:rPr lang="en-IN" sz="28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800" b="0" i="1" smtClean="0">
                        <a:latin typeface="Cambria Math" panose="02040503050406030204" pitchFamily="18" charset="0"/>
                      </a:rPr>
                      <m:t>21  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IN" sz="2800">
                    <a:latin typeface="Cambria Math" panose="02040503050406030204" pitchFamily="18" charset="0"/>
                    <a:ea typeface="Cambria Math" panose="02040503050406030204" pitchFamily="18" charset="0"/>
                  </a:rPr>
                  <a:t>20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15F6F0F-4B00-7A24-7B2E-9B850151EC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775" y="2785195"/>
                <a:ext cx="5385994" cy="2995244"/>
              </a:xfrm>
              <a:prstGeom prst="rect">
                <a:avLst/>
              </a:prstGeom>
              <a:blipFill>
                <a:blip r:embed="rId4"/>
                <a:stretch>
                  <a:fillRect b="-46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747618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898775" y="1469072"/>
            <a:ext cx="1473200" cy="9144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5387975" y="1469072"/>
            <a:ext cx="1473200" cy="9144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877175" y="1469072"/>
            <a:ext cx="1473200" cy="9144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2898775" y="2971800"/>
            <a:ext cx="1473200" cy="9144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5387975" y="2971800"/>
            <a:ext cx="1473200" cy="9144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7877175" y="2971800"/>
            <a:ext cx="1473200" cy="9144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2898775" y="4474528"/>
            <a:ext cx="1473200" cy="9144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5387975" y="4474528"/>
            <a:ext cx="1473200" cy="9144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7877175" y="4474528"/>
            <a:ext cx="1473200" cy="9144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Arrow Connector 18"/>
          <p:cNvCxnSpPr>
            <a:endCxn id="6" idx="1"/>
          </p:cNvCxnSpPr>
          <p:nvPr/>
        </p:nvCxnSpPr>
        <p:spPr>
          <a:xfrm>
            <a:off x="1463675" y="1917700"/>
            <a:ext cx="1435100" cy="857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stCxn id="6" idx="3"/>
          </p:cNvCxnSpPr>
          <p:nvPr/>
        </p:nvCxnSpPr>
        <p:spPr>
          <a:xfrm>
            <a:off x="4371975" y="1926272"/>
            <a:ext cx="977900" cy="857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>
            <a:off x="6899275" y="1934844"/>
            <a:ext cx="977900" cy="857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>
            <a:off x="6880225" y="3420428"/>
            <a:ext cx="977900" cy="857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>
            <a:off x="6880225" y="4906012"/>
            <a:ext cx="977900" cy="857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/>
          <p:nvPr/>
        </p:nvCxnSpPr>
        <p:spPr>
          <a:xfrm>
            <a:off x="4410075" y="4935382"/>
            <a:ext cx="977900" cy="857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>
            <a:off x="4410075" y="3432970"/>
            <a:ext cx="977900" cy="857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>
            <a:off x="1425575" y="3416142"/>
            <a:ext cx="1435100" cy="857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>
          <a:xfrm>
            <a:off x="1406525" y="4914584"/>
            <a:ext cx="1435100" cy="857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/>
          <p:nvPr/>
        </p:nvCxnSpPr>
        <p:spPr>
          <a:xfrm>
            <a:off x="9350375" y="1943416"/>
            <a:ext cx="1435100" cy="857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/>
          <p:nvPr/>
        </p:nvCxnSpPr>
        <p:spPr>
          <a:xfrm>
            <a:off x="9350375" y="3407570"/>
            <a:ext cx="1435100" cy="857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>
            <a:off x="9350375" y="4906012"/>
            <a:ext cx="1435100" cy="857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/>
          <p:nvPr/>
        </p:nvCxnSpPr>
        <p:spPr>
          <a:xfrm rot="5400000">
            <a:off x="8129111" y="975836"/>
            <a:ext cx="977900" cy="857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/>
          <p:nvPr/>
        </p:nvCxnSpPr>
        <p:spPr>
          <a:xfrm rot="5400000">
            <a:off x="8120539" y="5873592"/>
            <a:ext cx="977900" cy="857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/>
          <p:nvPr/>
        </p:nvCxnSpPr>
        <p:spPr>
          <a:xfrm rot="5400000">
            <a:off x="5639911" y="5858670"/>
            <a:ext cx="977900" cy="857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/>
          <p:nvPr/>
        </p:nvCxnSpPr>
        <p:spPr>
          <a:xfrm rot="5400000">
            <a:off x="5631339" y="975836"/>
            <a:ext cx="977900" cy="857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/>
          <p:nvPr/>
        </p:nvCxnSpPr>
        <p:spPr>
          <a:xfrm rot="5400000">
            <a:off x="3150711" y="975836"/>
            <a:ext cx="977900" cy="857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/>
          <p:nvPr/>
        </p:nvCxnSpPr>
        <p:spPr>
          <a:xfrm rot="5400000">
            <a:off x="3142139" y="5858670"/>
            <a:ext cx="977900" cy="857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stCxn id="6" idx="2"/>
          </p:cNvCxnSpPr>
          <p:nvPr/>
        </p:nvCxnSpPr>
        <p:spPr>
          <a:xfrm flipH="1">
            <a:off x="3618231" y="2383472"/>
            <a:ext cx="17144" cy="6032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/>
          <p:nvPr/>
        </p:nvCxnSpPr>
        <p:spPr>
          <a:xfrm flipH="1">
            <a:off x="3643947" y="3871278"/>
            <a:ext cx="17144" cy="6032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/>
          <p:nvPr/>
        </p:nvCxnSpPr>
        <p:spPr>
          <a:xfrm flipH="1">
            <a:off x="6098859" y="3871278"/>
            <a:ext cx="17144" cy="6032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/>
          <p:nvPr/>
        </p:nvCxnSpPr>
        <p:spPr>
          <a:xfrm flipH="1">
            <a:off x="6124575" y="2390775"/>
            <a:ext cx="17144" cy="6032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/>
          <p:nvPr/>
        </p:nvCxnSpPr>
        <p:spPr>
          <a:xfrm flipH="1">
            <a:off x="8630919" y="2390775"/>
            <a:ext cx="17144" cy="6032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/>
          <p:nvPr/>
        </p:nvCxnSpPr>
        <p:spPr>
          <a:xfrm flipH="1">
            <a:off x="8622347" y="3876675"/>
            <a:ext cx="17144" cy="6032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530842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/>
          <p:cNvSpPr/>
          <p:nvPr/>
        </p:nvSpPr>
        <p:spPr>
          <a:xfrm>
            <a:off x="2898775" y="1463675"/>
            <a:ext cx="1473200" cy="914400"/>
          </a:xfrm>
          <a:prstGeom prst="rect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2898775" y="1469072"/>
            <a:ext cx="1473200" cy="914400"/>
          </a:xfrm>
          <a:prstGeom prst="rect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C=a00b00</a:t>
            </a:r>
          </a:p>
        </p:txBody>
      </p:sp>
      <p:sp>
        <p:nvSpPr>
          <p:cNvPr id="7" name="Rectangle 6"/>
          <p:cNvSpPr/>
          <p:nvPr/>
        </p:nvSpPr>
        <p:spPr>
          <a:xfrm>
            <a:off x="5387975" y="1469072"/>
            <a:ext cx="1473200" cy="9144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877175" y="1469072"/>
            <a:ext cx="1473200" cy="9144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2898775" y="2971800"/>
            <a:ext cx="1473200" cy="9144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5387975" y="2971800"/>
            <a:ext cx="1473200" cy="9144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7877175" y="2971800"/>
            <a:ext cx="1473200" cy="9144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2898775" y="4474528"/>
            <a:ext cx="1473200" cy="9144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5387975" y="4474528"/>
            <a:ext cx="1473200" cy="9144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7877175" y="4474528"/>
            <a:ext cx="1473200" cy="9144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Arrow Connector 18"/>
          <p:cNvCxnSpPr>
            <a:endCxn id="6" idx="1"/>
          </p:cNvCxnSpPr>
          <p:nvPr/>
        </p:nvCxnSpPr>
        <p:spPr>
          <a:xfrm>
            <a:off x="1463675" y="1917700"/>
            <a:ext cx="1435100" cy="857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stCxn id="6" idx="3"/>
          </p:cNvCxnSpPr>
          <p:nvPr/>
        </p:nvCxnSpPr>
        <p:spPr>
          <a:xfrm>
            <a:off x="4371975" y="1926272"/>
            <a:ext cx="977900" cy="857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>
            <a:off x="6899275" y="1934844"/>
            <a:ext cx="977900" cy="857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>
            <a:off x="6880225" y="3420428"/>
            <a:ext cx="977900" cy="857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>
            <a:off x="6880225" y="4906012"/>
            <a:ext cx="977900" cy="857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/>
          <p:nvPr/>
        </p:nvCxnSpPr>
        <p:spPr>
          <a:xfrm>
            <a:off x="4410075" y="4935382"/>
            <a:ext cx="977900" cy="857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>
            <a:off x="4410075" y="3432970"/>
            <a:ext cx="977900" cy="857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>
            <a:off x="1425575" y="3416142"/>
            <a:ext cx="1435100" cy="857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>
          <a:xfrm>
            <a:off x="1406525" y="4914584"/>
            <a:ext cx="1435100" cy="857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/>
          <p:nvPr/>
        </p:nvCxnSpPr>
        <p:spPr>
          <a:xfrm>
            <a:off x="9350375" y="1943416"/>
            <a:ext cx="1435100" cy="857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/>
          <p:nvPr/>
        </p:nvCxnSpPr>
        <p:spPr>
          <a:xfrm>
            <a:off x="9350375" y="3407570"/>
            <a:ext cx="1435100" cy="857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>
            <a:off x="9350375" y="4906012"/>
            <a:ext cx="1435100" cy="857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/>
          <p:nvPr/>
        </p:nvCxnSpPr>
        <p:spPr>
          <a:xfrm rot="5400000">
            <a:off x="8129111" y="975836"/>
            <a:ext cx="977900" cy="857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/>
          <p:nvPr/>
        </p:nvCxnSpPr>
        <p:spPr>
          <a:xfrm rot="5400000">
            <a:off x="8120539" y="5873592"/>
            <a:ext cx="977900" cy="857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/>
          <p:nvPr/>
        </p:nvCxnSpPr>
        <p:spPr>
          <a:xfrm rot="5400000">
            <a:off x="5639911" y="5858670"/>
            <a:ext cx="977900" cy="857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/>
          <p:nvPr/>
        </p:nvCxnSpPr>
        <p:spPr>
          <a:xfrm rot="5400000">
            <a:off x="5631339" y="975836"/>
            <a:ext cx="977900" cy="857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/>
          <p:nvPr/>
        </p:nvCxnSpPr>
        <p:spPr>
          <a:xfrm rot="5400000">
            <a:off x="3150711" y="975836"/>
            <a:ext cx="977900" cy="857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/>
          <p:nvPr/>
        </p:nvCxnSpPr>
        <p:spPr>
          <a:xfrm rot="5400000">
            <a:off x="3142139" y="5858670"/>
            <a:ext cx="977900" cy="857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stCxn id="6" idx="2"/>
          </p:cNvCxnSpPr>
          <p:nvPr/>
        </p:nvCxnSpPr>
        <p:spPr>
          <a:xfrm flipH="1">
            <a:off x="3618231" y="2383472"/>
            <a:ext cx="17144" cy="6032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/>
          <p:nvPr/>
        </p:nvCxnSpPr>
        <p:spPr>
          <a:xfrm flipH="1">
            <a:off x="3643947" y="3871278"/>
            <a:ext cx="17144" cy="6032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/>
          <p:nvPr/>
        </p:nvCxnSpPr>
        <p:spPr>
          <a:xfrm flipH="1">
            <a:off x="6098859" y="3871278"/>
            <a:ext cx="17144" cy="6032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/>
          <p:nvPr/>
        </p:nvCxnSpPr>
        <p:spPr>
          <a:xfrm flipH="1">
            <a:off x="6124575" y="2390775"/>
            <a:ext cx="17144" cy="6032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/>
          <p:nvPr/>
        </p:nvCxnSpPr>
        <p:spPr>
          <a:xfrm flipH="1">
            <a:off x="8630919" y="2390775"/>
            <a:ext cx="17144" cy="6032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/>
          <p:nvPr/>
        </p:nvCxnSpPr>
        <p:spPr>
          <a:xfrm flipH="1">
            <a:off x="8622347" y="3876675"/>
            <a:ext cx="17144" cy="6032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2312313" y="1574084"/>
            <a:ext cx="5293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a00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18231" y="1099740"/>
            <a:ext cx="5405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b00</a:t>
            </a:r>
          </a:p>
        </p:txBody>
      </p:sp>
    </p:spTree>
    <p:extLst>
      <p:ext uri="{BB962C8B-B14F-4D97-AF65-F5344CB8AC3E}">
        <p14:creationId xmlns:p14="http://schemas.microsoft.com/office/powerpoint/2010/main" val="18057174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Rectangle 54"/>
          <p:cNvSpPr/>
          <p:nvPr/>
        </p:nvSpPr>
        <p:spPr>
          <a:xfrm>
            <a:off x="5387975" y="1466850"/>
            <a:ext cx="1473200" cy="9144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/>
          <p:cNvSpPr/>
          <p:nvPr/>
        </p:nvSpPr>
        <p:spPr>
          <a:xfrm>
            <a:off x="2898775" y="2971800"/>
            <a:ext cx="1473200" cy="9144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/>
          <p:cNvSpPr/>
          <p:nvPr/>
        </p:nvSpPr>
        <p:spPr>
          <a:xfrm>
            <a:off x="2898775" y="1469309"/>
            <a:ext cx="1473200" cy="9144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2898775" y="1469072"/>
            <a:ext cx="1473200" cy="914400"/>
          </a:xfrm>
          <a:prstGeom prst="rect">
            <a:avLst/>
          </a:prstGeom>
          <a:ln>
            <a:solidFill>
              <a:schemeClr val="accent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/>
              <a:t>C=a00b00+a01b10</a:t>
            </a:r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5387975" y="1469072"/>
            <a:ext cx="1473200" cy="914400"/>
          </a:xfrm>
          <a:prstGeom prst="rect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C=a00b01</a:t>
            </a:r>
          </a:p>
        </p:txBody>
      </p:sp>
      <p:sp>
        <p:nvSpPr>
          <p:cNvPr id="8" name="Rectangle 7"/>
          <p:cNvSpPr/>
          <p:nvPr/>
        </p:nvSpPr>
        <p:spPr>
          <a:xfrm>
            <a:off x="7877175" y="1469072"/>
            <a:ext cx="1473200" cy="9144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2898775" y="2971800"/>
            <a:ext cx="1473200" cy="914400"/>
          </a:xfrm>
          <a:prstGeom prst="rect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C=a10b00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87975" y="2971800"/>
            <a:ext cx="1473200" cy="9144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7877175" y="2971800"/>
            <a:ext cx="1473200" cy="9144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2898775" y="4474528"/>
            <a:ext cx="1473200" cy="9144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5387975" y="4474528"/>
            <a:ext cx="1473200" cy="9144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7877175" y="4474528"/>
            <a:ext cx="1473200" cy="9144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Arrow Connector 18"/>
          <p:cNvCxnSpPr>
            <a:endCxn id="6" idx="1"/>
          </p:cNvCxnSpPr>
          <p:nvPr/>
        </p:nvCxnSpPr>
        <p:spPr>
          <a:xfrm>
            <a:off x="1463675" y="1917700"/>
            <a:ext cx="1435100" cy="857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stCxn id="6" idx="3"/>
          </p:cNvCxnSpPr>
          <p:nvPr/>
        </p:nvCxnSpPr>
        <p:spPr>
          <a:xfrm>
            <a:off x="4371975" y="1926272"/>
            <a:ext cx="977900" cy="857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>
            <a:off x="6899275" y="1934844"/>
            <a:ext cx="977900" cy="857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>
            <a:off x="6880225" y="3420428"/>
            <a:ext cx="977900" cy="857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>
            <a:off x="6880225" y="4906012"/>
            <a:ext cx="977900" cy="857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/>
          <p:nvPr/>
        </p:nvCxnSpPr>
        <p:spPr>
          <a:xfrm>
            <a:off x="4410075" y="4935382"/>
            <a:ext cx="977900" cy="857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>
            <a:off x="4410075" y="3432970"/>
            <a:ext cx="977900" cy="857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>
            <a:off x="1425575" y="3416142"/>
            <a:ext cx="1435100" cy="857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>
          <a:xfrm>
            <a:off x="1406525" y="4914584"/>
            <a:ext cx="1435100" cy="857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/>
          <p:nvPr/>
        </p:nvCxnSpPr>
        <p:spPr>
          <a:xfrm>
            <a:off x="9350375" y="1943416"/>
            <a:ext cx="1435100" cy="857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/>
          <p:nvPr/>
        </p:nvCxnSpPr>
        <p:spPr>
          <a:xfrm>
            <a:off x="9350375" y="3407570"/>
            <a:ext cx="1435100" cy="857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>
            <a:off x="9350375" y="4906012"/>
            <a:ext cx="1435100" cy="857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/>
          <p:nvPr/>
        </p:nvCxnSpPr>
        <p:spPr>
          <a:xfrm rot="5400000">
            <a:off x="8129111" y="975836"/>
            <a:ext cx="977900" cy="857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/>
          <p:nvPr/>
        </p:nvCxnSpPr>
        <p:spPr>
          <a:xfrm rot="5400000">
            <a:off x="8120539" y="5873592"/>
            <a:ext cx="977900" cy="857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/>
          <p:nvPr/>
        </p:nvCxnSpPr>
        <p:spPr>
          <a:xfrm rot="5400000">
            <a:off x="5639911" y="5858670"/>
            <a:ext cx="977900" cy="857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/>
          <p:nvPr/>
        </p:nvCxnSpPr>
        <p:spPr>
          <a:xfrm rot="5400000">
            <a:off x="5631339" y="975836"/>
            <a:ext cx="977900" cy="857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/>
          <p:nvPr/>
        </p:nvCxnSpPr>
        <p:spPr>
          <a:xfrm rot="5400000">
            <a:off x="3150711" y="975836"/>
            <a:ext cx="977900" cy="857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/>
          <p:nvPr/>
        </p:nvCxnSpPr>
        <p:spPr>
          <a:xfrm rot="5400000">
            <a:off x="3142139" y="5858670"/>
            <a:ext cx="977900" cy="857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stCxn id="6" idx="2"/>
          </p:cNvCxnSpPr>
          <p:nvPr/>
        </p:nvCxnSpPr>
        <p:spPr>
          <a:xfrm flipH="1">
            <a:off x="3618231" y="2383472"/>
            <a:ext cx="17144" cy="6032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/>
          <p:nvPr/>
        </p:nvCxnSpPr>
        <p:spPr>
          <a:xfrm flipH="1">
            <a:off x="3643947" y="3871278"/>
            <a:ext cx="17144" cy="6032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/>
          <p:nvPr/>
        </p:nvCxnSpPr>
        <p:spPr>
          <a:xfrm flipH="1">
            <a:off x="6098859" y="3871278"/>
            <a:ext cx="17144" cy="6032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/>
          <p:nvPr/>
        </p:nvCxnSpPr>
        <p:spPr>
          <a:xfrm flipH="1">
            <a:off x="6124575" y="2390775"/>
            <a:ext cx="17144" cy="6032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/>
          <p:nvPr/>
        </p:nvCxnSpPr>
        <p:spPr>
          <a:xfrm flipH="1">
            <a:off x="8630919" y="2390775"/>
            <a:ext cx="17144" cy="6032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/>
          <p:nvPr/>
        </p:nvCxnSpPr>
        <p:spPr>
          <a:xfrm flipH="1">
            <a:off x="8622347" y="3876675"/>
            <a:ext cx="17144" cy="6032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2312313" y="1574084"/>
            <a:ext cx="5293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a01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18231" y="1099740"/>
            <a:ext cx="5405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b10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312313" y="3063638"/>
            <a:ext cx="5293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a10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618231" y="2589294"/>
            <a:ext cx="5405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b00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878220" y="1548368"/>
            <a:ext cx="5293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a00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184138" y="1074024"/>
            <a:ext cx="5405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b01</a:t>
            </a:r>
          </a:p>
        </p:txBody>
      </p:sp>
    </p:spTree>
    <p:extLst>
      <p:ext uri="{BB962C8B-B14F-4D97-AF65-F5344CB8AC3E}">
        <p14:creationId xmlns:p14="http://schemas.microsoft.com/office/powerpoint/2010/main" val="6971855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Rectangle 66"/>
          <p:cNvSpPr/>
          <p:nvPr/>
        </p:nvSpPr>
        <p:spPr>
          <a:xfrm>
            <a:off x="2898775" y="1469072"/>
            <a:ext cx="1473200" cy="9144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angle 67"/>
          <p:cNvSpPr/>
          <p:nvPr/>
        </p:nvSpPr>
        <p:spPr>
          <a:xfrm>
            <a:off x="5387975" y="1469072"/>
            <a:ext cx="1473200" cy="914400"/>
          </a:xfrm>
          <a:prstGeom prst="rect">
            <a:avLst/>
          </a:prstGeom>
          <a:ln>
            <a:solidFill>
              <a:schemeClr val="accent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ectangle 68"/>
          <p:cNvSpPr/>
          <p:nvPr/>
        </p:nvSpPr>
        <p:spPr>
          <a:xfrm>
            <a:off x="7877175" y="1469072"/>
            <a:ext cx="1473200" cy="9144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/>
          <p:cNvSpPr/>
          <p:nvPr/>
        </p:nvSpPr>
        <p:spPr>
          <a:xfrm>
            <a:off x="2898775" y="2971800"/>
            <a:ext cx="1473200" cy="9144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70"/>
          <p:cNvSpPr/>
          <p:nvPr/>
        </p:nvSpPr>
        <p:spPr>
          <a:xfrm>
            <a:off x="5387975" y="2971800"/>
            <a:ext cx="1473200" cy="9144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Rectangle 71"/>
          <p:cNvSpPr/>
          <p:nvPr/>
        </p:nvSpPr>
        <p:spPr>
          <a:xfrm>
            <a:off x="2898775" y="4474528"/>
            <a:ext cx="1473200" cy="9144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Rectangle 63"/>
          <p:cNvSpPr/>
          <p:nvPr/>
        </p:nvSpPr>
        <p:spPr>
          <a:xfrm>
            <a:off x="2898770" y="4476766"/>
            <a:ext cx="1473200" cy="9144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ectangle 61"/>
          <p:cNvSpPr/>
          <p:nvPr/>
        </p:nvSpPr>
        <p:spPr>
          <a:xfrm>
            <a:off x="2901949" y="1466848"/>
            <a:ext cx="1473200" cy="914400"/>
          </a:xfrm>
          <a:prstGeom prst="rect">
            <a:avLst/>
          </a:prstGeom>
          <a:ln>
            <a:solidFill>
              <a:schemeClr val="accent4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angle 62"/>
          <p:cNvSpPr/>
          <p:nvPr/>
        </p:nvSpPr>
        <p:spPr>
          <a:xfrm>
            <a:off x="2898773" y="2971790"/>
            <a:ext cx="1473200" cy="9144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2898775" y="1469072"/>
            <a:ext cx="1473200" cy="914400"/>
          </a:xfrm>
          <a:prstGeom prst="rect">
            <a:avLst/>
          </a:prstGeom>
          <a:ln>
            <a:solidFill>
              <a:schemeClr val="accent4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/>
              <a:t>C=a00b00+a01b10+a02b20</a:t>
            </a:r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5387975" y="1469072"/>
            <a:ext cx="1473200" cy="914400"/>
          </a:xfrm>
          <a:prstGeom prst="rect">
            <a:avLst/>
          </a:prstGeom>
          <a:ln>
            <a:solidFill>
              <a:schemeClr val="accent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/>
              <a:t>C=a00b01+a01b11</a:t>
            </a:r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877175" y="1469072"/>
            <a:ext cx="1473200" cy="914400"/>
          </a:xfrm>
          <a:prstGeom prst="rect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C=a00b02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98775" y="2971800"/>
            <a:ext cx="1473200" cy="914400"/>
          </a:xfrm>
          <a:prstGeom prst="rect">
            <a:avLst/>
          </a:prstGeom>
          <a:ln>
            <a:solidFill>
              <a:schemeClr val="accent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/>
              <a:t>C=a10b00+a11b10</a:t>
            </a:r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5387975" y="2971800"/>
            <a:ext cx="1473200" cy="914400"/>
          </a:xfrm>
          <a:prstGeom prst="rect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C=a10b01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77175" y="2971800"/>
            <a:ext cx="1473200" cy="9144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2898775" y="4474528"/>
            <a:ext cx="1473200" cy="914400"/>
          </a:xfrm>
          <a:prstGeom prst="rect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C=a20b00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87975" y="4474528"/>
            <a:ext cx="1473200" cy="9144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7877175" y="4474528"/>
            <a:ext cx="1473200" cy="9144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Arrow Connector 18"/>
          <p:cNvCxnSpPr>
            <a:endCxn id="6" idx="1"/>
          </p:cNvCxnSpPr>
          <p:nvPr/>
        </p:nvCxnSpPr>
        <p:spPr>
          <a:xfrm>
            <a:off x="1463675" y="1917700"/>
            <a:ext cx="1435100" cy="857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stCxn id="6" idx="3"/>
          </p:cNvCxnSpPr>
          <p:nvPr/>
        </p:nvCxnSpPr>
        <p:spPr>
          <a:xfrm>
            <a:off x="4371975" y="1926272"/>
            <a:ext cx="977900" cy="857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>
            <a:off x="6899275" y="1934844"/>
            <a:ext cx="977900" cy="857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>
            <a:off x="6880225" y="3420428"/>
            <a:ext cx="977900" cy="857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>
            <a:off x="6880225" y="4906012"/>
            <a:ext cx="977900" cy="857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/>
          <p:nvPr/>
        </p:nvCxnSpPr>
        <p:spPr>
          <a:xfrm>
            <a:off x="4410075" y="4935382"/>
            <a:ext cx="977900" cy="857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>
            <a:off x="4410075" y="3432970"/>
            <a:ext cx="977900" cy="857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>
            <a:off x="1425575" y="3416142"/>
            <a:ext cx="1435100" cy="857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>
          <a:xfrm>
            <a:off x="1406525" y="4914584"/>
            <a:ext cx="1435100" cy="857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/>
          <p:nvPr/>
        </p:nvCxnSpPr>
        <p:spPr>
          <a:xfrm>
            <a:off x="9350375" y="1943416"/>
            <a:ext cx="1435100" cy="857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/>
          <p:nvPr/>
        </p:nvCxnSpPr>
        <p:spPr>
          <a:xfrm>
            <a:off x="9350375" y="3407570"/>
            <a:ext cx="1435100" cy="857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>
            <a:off x="9350375" y="4906012"/>
            <a:ext cx="1435100" cy="857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/>
          <p:nvPr/>
        </p:nvCxnSpPr>
        <p:spPr>
          <a:xfrm rot="5400000">
            <a:off x="8129111" y="975836"/>
            <a:ext cx="977900" cy="857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/>
          <p:nvPr/>
        </p:nvCxnSpPr>
        <p:spPr>
          <a:xfrm rot="5400000">
            <a:off x="8120539" y="5873592"/>
            <a:ext cx="977900" cy="857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/>
          <p:nvPr/>
        </p:nvCxnSpPr>
        <p:spPr>
          <a:xfrm rot="5400000">
            <a:off x="5639911" y="5858670"/>
            <a:ext cx="977900" cy="857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/>
          <p:nvPr/>
        </p:nvCxnSpPr>
        <p:spPr>
          <a:xfrm rot="5400000">
            <a:off x="5631339" y="975836"/>
            <a:ext cx="977900" cy="857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/>
          <p:nvPr/>
        </p:nvCxnSpPr>
        <p:spPr>
          <a:xfrm rot="5400000">
            <a:off x="3150711" y="975836"/>
            <a:ext cx="977900" cy="857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/>
          <p:nvPr/>
        </p:nvCxnSpPr>
        <p:spPr>
          <a:xfrm rot="5400000">
            <a:off x="3142139" y="5858670"/>
            <a:ext cx="977900" cy="857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stCxn id="6" idx="2"/>
          </p:cNvCxnSpPr>
          <p:nvPr/>
        </p:nvCxnSpPr>
        <p:spPr>
          <a:xfrm flipH="1">
            <a:off x="3618231" y="2383472"/>
            <a:ext cx="17144" cy="6032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/>
          <p:nvPr/>
        </p:nvCxnSpPr>
        <p:spPr>
          <a:xfrm flipH="1">
            <a:off x="3643947" y="3871278"/>
            <a:ext cx="17144" cy="6032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/>
          <p:nvPr/>
        </p:nvCxnSpPr>
        <p:spPr>
          <a:xfrm flipH="1">
            <a:off x="6098859" y="3871278"/>
            <a:ext cx="17144" cy="6032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/>
          <p:nvPr/>
        </p:nvCxnSpPr>
        <p:spPr>
          <a:xfrm flipH="1">
            <a:off x="6124575" y="2390775"/>
            <a:ext cx="17144" cy="6032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/>
          <p:nvPr/>
        </p:nvCxnSpPr>
        <p:spPr>
          <a:xfrm flipH="1">
            <a:off x="8630919" y="2390775"/>
            <a:ext cx="17144" cy="6032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/>
          <p:nvPr/>
        </p:nvCxnSpPr>
        <p:spPr>
          <a:xfrm flipH="1">
            <a:off x="8622347" y="3876675"/>
            <a:ext cx="17144" cy="6032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2312313" y="1574084"/>
            <a:ext cx="5293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a02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18231" y="1099740"/>
            <a:ext cx="5405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b20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312313" y="3063638"/>
            <a:ext cx="5293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a11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618231" y="2589294"/>
            <a:ext cx="5405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b10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878220" y="1548368"/>
            <a:ext cx="5293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a01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184138" y="1074024"/>
            <a:ext cx="5405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b11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307114" y="1574084"/>
            <a:ext cx="5293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a00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613032" y="1099740"/>
            <a:ext cx="5405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b02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836162" y="3062527"/>
            <a:ext cx="5293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a10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142080" y="2588183"/>
            <a:ext cx="5405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b01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312313" y="4581288"/>
            <a:ext cx="5293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a20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618231" y="4106944"/>
            <a:ext cx="5405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b00</a:t>
            </a:r>
          </a:p>
        </p:txBody>
      </p:sp>
    </p:spTree>
    <p:extLst>
      <p:ext uri="{BB962C8B-B14F-4D97-AF65-F5344CB8AC3E}">
        <p14:creationId xmlns:p14="http://schemas.microsoft.com/office/powerpoint/2010/main" val="6656106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" name="Group 44"/>
          <p:cNvGrpSpPr/>
          <p:nvPr/>
        </p:nvGrpSpPr>
        <p:grpSpPr>
          <a:xfrm>
            <a:off x="1406525" y="491172"/>
            <a:ext cx="9378950" cy="5875656"/>
            <a:chOff x="1377950" y="491172"/>
            <a:chExt cx="9378950" cy="5875656"/>
          </a:xfrm>
        </p:grpSpPr>
        <p:grpSp>
          <p:nvGrpSpPr>
            <p:cNvPr id="17" name="Group 16"/>
            <p:cNvGrpSpPr/>
            <p:nvPr/>
          </p:nvGrpSpPr>
          <p:grpSpPr>
            <a:xfrm>
              <a:off x="2870200" y="1469072"/>
              <a:ext cx="6451600" cy="3919856"/>
              <a:chOff x="2476500" y="1612900"/>
              <a:chExt cx="6451600" cy="3919856"/>
            </a:xfrm>
          </p:grpSpPr>
          <p:sp>
            <p:nvSpPr>
              <p:cNvPr id="6" name="Rectangle 5"/>
              <p:cNvSpPr/>
              <p:nvPr/>
            </p:nvSpPr>
            <p:spPr>
              <a:xfrm>
                <a:off x="2476500" y="1612900"/>
                <a:ext cx="1473200" cy="914400"/>
              </a:xfrm>
              <a:prstGeom prst="rect">
                <a:avLst/>
              </a:prstGeom>
              <a:ln>
                <a:solidFill>
                  <a:schemeClr val="accent3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/>
                  <a:t>C=a00b00+a01b10+a02b20</a:t>
                </a:r>
                <a:endParaRPr lang="en-US"/>
              </a:p>
            </p:txBody>
          </p:sp>
          <p:sp>
            <p:nvSpPr>
              <p:cNvPr id="7" name="Rectangle 6"/>
              <p:cNvSpPr/>
              <p:nvPr/>
            </p:nvSpPr>
            <p:spPr>
              <a:xfrm>
                <a:off x="4965700" y="1612900"/>
                <a:ext cx="1473200" cy="914400"/>
              </a:xfrm>
              <a:prstGeom prst="rect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/>
                  <a:t>C=a00b01+a01b11+a02b21</a:t>
                </a:r>
                <a:endParaRPr lang="en-US"/>
              </a:p>
            </p:txBody>
          </p:sp>
          <p:sp>
            <p:nvSpPr>
              <p:cNvPr id="8" name="Rectangle 7"/>
              <p:cNvSpPr/>
              <p:nvPr/>
            </p:nvSpPr>
            <p:spPr>
              <a:xfrm>
                <a:off x="7454900" y="1612900"/>
                <a:ext cx="1473200" cy="914400"/>
              </a:xfrm>
              <a:prstGeom prst="rect">
                <a:avLst/>
              </a:prstGeom>
              <a:ln>
                <a:solidFill>
                  <a:schemeClr val="accent5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/>
                  <a:t>C=a00b02+a01b12</a:t>
                </a:r>
                <a:endParaRPr lang="en-US"/>
              </a:p>
            </p:txBody>
          </p:sp>
          <p:sp>
            <p:nvSpPr>
              <p:cNvPr id="11" name="Rectangle 10"/>
              <p:cNvSpPr/>
              <p:nvPr/>
            </p:nvSpPr>
            <p:spPr>
              <a:xfrm>
                <a:off x="2476500" y="3115628"/>
                <a:ext cx="1473200" cy="914400"/>
              </a:xfrm>
              <a:prstGeom prst="rect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/>
                  <a:t>C=a10b00+a11b10+a12b20</a:t>
                </a:r>
                <a:endParaRPr lang="en-US"/>
              </a:p>
            </p:txBody>
          </p:sp>
          <p:sp>
            <p:nvSpPr>
              <p:cNvPr id="12" name="Rectangle 11"/>
              <p:cNvSpPr/>
              <p:nvPr/>
            </p:nvSpPr>
            <p:spPr>
              <a:xfrm>
                <a:off x="4965700" y="3115628"/>
                <a:ext cx="1473200" cy="914400"/>
              </a:xfrm>
              <a:prstGeom prst="rect">
                <a:avLst/>
              </a:prstGeom>
              <a:ln>
                <a:solidFill>
                  <a:schemeClr val="accent5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/>
                  <a:t>C=a10b01+a11b11</a:t>
                </a:r>
                <a:endParaRPr lang="en-US"/>
              </a:p>
            </p:txBody>
          </p:sp>
          <p:sp>
            <p:nvSpPr>
              <p:cNvPr id="13" name="Rectangle 12"/>
              <p:cNvSpPr/>
              <p:nvPr/>
            </p:nvSpPr>
            <p:spPr>
              <a:xfrm>
                <a:off x="7454900" y="3115628"/>
                <a:ext cx="1473200" cy="914400"/>
              </a:xfrm>
              <a:prstGeom prst="rect">
                <a:avLst/>
              </a:prstGeom>
              <a:ln>
                <a:solidFill>
                  <a:schemeClr val="accent6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/>
                  <a:t>C=a10b02</a:t>
                </a:r>
              </a:p>
            </p:txBody>
          </p:sp>
          <p:sp>
            <p:nvSpPr>
              <p:cNvPr id="14" name="Rectangle 13"/>
              <p:cNvSpPr/>
              <p:nvPr/>
            </p:nvSpPr>
            <p:spPr>
              <a:xfrm>
                <a:off x="2476500" y="4618356"/>
                <a:ext cx="1473200" cy="914400"/>
              </a:xfrm>
              <a:prstGeom prst="rect">
                <a:avLst/>
              </a:prstGeom>
              <a:ln>
                <a:solidFill>
                  <a:schemeClr val="accent5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/>
                  <a:t>C=a20b00+a21b10</a:t>
                </a:r>
                <a:endParaRPr lang="en-US"/>
              </a:p>
            </p:txBody>
          </p:sp>
          <p:sp>
            <p:nvSpPr>
              <p:cNvPr id="15" name="Rectangle 14"/>
              <p:cNvSpPr/>
              <p:nvPr/>
            </p:nvSpPr>
            <p:spPr>
              <a:xfrm>
                <a:off x="4965700" y="4618356"/>
                <a:ext cx="1473200" cy="914400"/>
              </a:xfrm>
              <a:prstGeom prst="rect">
                <a:avLst/>
              </a:prstGeom>
              <a:ln>
                <a:solidFill>
                  <a:schemeClr val="accent6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/>
                  <a:t>C=a20b01</a:t>
                </a:r>
              </a:p>
            </p:txBody>
          </p:sp>
          <p:sp>
            <p:nvSpPr>
              <p:cNvPr id="16" name="Rectangle 15"/>
              <p:cNvSpPr/>
              <p:nvPr/>
            </p:nvSpPr>
            <p:spPr>
              <a:xfrm>
                <a:off x="7454900" y="4618356"/>
                <a:ext cx="1473200" cy="914400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19" name="Straight Arrow Connector 18"/>
            <p:cNvCxnSpPr>
              <a:endCxn id="6" idx="1"/>
            </p:cNvCxnSpPr>
            <p:nvPr/>
          </p:nvCxnSpPr>
          <p:spPr>
            <a:xfrm>
              <a:off x="1435100" y="1917700"/>
              <a:ext cx="1435100" cy="857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/>
            <p:cNvCxnSpPr>
              <a:stCxn id="6" idx="3"/>
            </p:cNvCxnSpPr>
            <p:nvPr/>
          </p:nvCxnSpPr>
          <p:spPr>
            <a:xfrm>
              <a:off x="4343400" y="1926272"/>
              <a:ext cx="977900" cy="857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/>
            <p:cNvCxnSpPr/>
            <p:nvPr/>
          </p:nvCxnSpPr>
          <p:spPr>
            <a:xfrm>
              <a:off x="6870700" y="1934844"/>
              <a:ext cx="977900" cy="857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/>
            <p:cNvCxnSpPr/>
            <p:nvPr/>
          </p:nvCxnSpPr>
          <p:spPr>
            <a:xfrm>
              <a:off x="6851650" y="3420428"/>
              <a:ext cx="977900" cy="857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/>
            <p:cNvCxnSpPr/>
            <p:nvPr/>
          </p:nvCxnSpPr>
          <p:spPr>
            <a:xfrm>
              <a:off x="6851650" y="4906012"/>
              <a:ext cx="977900" cy="857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/>
            <p:cNvCxnSpPr/>
            <p:nvPr/>
          </p:nvCxnSpPr>
          <p:spPr>
            <a:xfrm>
              <a:off x="4381500" y="4935382"/>
              <a:ext cx="977900" cy="857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/>
            <p:cNvCxnSpPr/>
            <p:nvPr/>
          </p:nvCxnSpPr>
          <p:spPr>
            <a:xfrm>
              <a:off x="4381500" y="3432970"/>
              <a:ext cx="977900" cy="857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/>
            <p:cNvCxnSpPr/>
            <p:nvPr/>
          </p:nvCxnSpPr>
          <p:spPr>
            <a:xfrm>
              <a:off x="1397000" y="3416142"/>
              <a:ext cx="1435100" cy="857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/>
            <p:cNvCxnSpPr/>
            <p:nvPr/>
          </p:nvCxnSpPr>
          <p:spPr>
            <a:xfrm>
              <a:off x="1377950" y="4914584"/>
              <a:ext cx="1435100" cy="857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/>
            <p:cNvCxnSpPr/>
            <p:nvPr/>
          </p:nvCxnSpPr>
          <p:spPr>
            <a:xfrm>
              <a:off x="9321800" y="1943416"/>
              <a:ext cx="1435100" cy="857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/>
            <p:cNvCxnSpPr/>
            <p:nvPr/>
          </p:nvCxnSpPr>
          <p:spPr>
            <a:xfrm>
              <a:off x="9321800" y="3407570"/>
              <a:ext cx="1435100" cy="857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Arrow Connector 30"/>
            <p:cNvCxnSpPr/>
            <p:nvPr/>
          </p:nvCxnSpPr>
          <p:spPr>
            <a:xfrm>
              <a:off x="9321800" y="4906012"/>
              <a:ext cx="1435100" cy="857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/>
            <p:cNvCxnSpPr/>
            <p:nvPr/>
          </p:nvCxnSpPr>
          <p:spPr>
            <a:xfrm rot="5400000">
              <a:off x="8100536" y="975836"/>
              <a:ext cx="977900" cy="857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/>
            <p:cNvCxnSpPr/>
            <p:nvPr/>
          </p:nvCxnSpPr>
          <p:spPr>
            <a:xfrm rot="5400000">
              <a:off x="8091964" y="5873592"/>
              <a:ext cx="977900" cy="857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/>
            <p:cNvCxnSpPr/>
            <p:nvPr/>
          </p:nvCxnSpPr>
          <p:spPr>
            <a:xfrm rot="5400000">
              <a:off x="5611336" y="5858670"/>
              <a:ext cx="977900" cy="857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/>
            <p:cNvCxnSpPr/>
            <p:nvPr/>
          </p:nvCxnSpPr>
          <p:spPr>
            <a:xfrm rot="5400000">
              <a:off x="5602764" y="975836"/>
              <a:ext cx="977900" cy="857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/>
            <p:cNvCxnSpPr/>
            <p:nvPr/>
          </p:nvCxnSpPr>
          <p:spPr>
            <a:xfrm rot="5400000">
              <a:off x="3122136" y="975836"/>
              <a:ext cx="977900" cy="857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6"/>
            <p:cNvCxnSpPr/>
            <p:nvPr/>
          </p:nvCxnSpPr>
          <p:spPr>
            <a:xfrm rot="5400000">
              <a:off x="3113564" y="5858670"/>
              <a:ext cx="977900" cy="857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/>
            <p:cNvCxnSpPr>
              <a:stCxn id="6" idx="2"/>
            </p:cNvCxnSpPr>
            <p:nvPr/>
          </p:nvCxnSpPr>
          <p:spPr>
            <a:xfrm flipH="1">
              <a:off x="3589656" y="2383472"/>
              <a:ext cx="17144" cy="60325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/>
            <p:cNvCxnSpPr/>
            <p:nvPr/>
          </p:nvCxnSpPr>
          <p:spPr>
            <a:xfrm flipH="1">
              <a:off x="3615372" y="3871278"/>
              <a:ext cx="17144" cy="60325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40"/>
            <p:cNvCxnSpPr/>
            <p:nvPr/>
          </p:nvCxnSpPr>
          <p:spPr>
            <a:xfrm flipH="1">
              <a:off x="6070284" y="3871278"/>
              <a:ext cx="17144" cy="60325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Arrow Connector 41"/>
            <p:cNvCxnSpPr/>
            <p:nvPr/>
          </p:nvCxnSpPr>
          <p:spPr>
            <a:xfrm flipH="1">
              <a:off x="6096000" y="2390775"/>
              <a:ext cx="17144" cy="60325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/>
            <p:cNvCxnSpPr/>
            <p:nvPr/>
          </p:nvCxnSpPr>
          <p:spPr>
            <a:xfrm flipH="1">
              <a:off x="8602344" y="2390775"/>
              <a:ext cx="17144" cy="60325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Arrow Connector 43"/>
            <p:cNvCxnSpPr/>
            <p:nvPr/>
          </p:nvCxnSpPr>
          <p:spPr>
            <a:xfrm flipH="1">
              <a:off x="8593772" y="3876675"/>
              <a:ext cx="17144" cy="60325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8" name="TextBox 47"/>
          <p:cNvSpPr txBox="1"/>
          <p:nvPr/>
        </p:nvSpPr>
        <p:spPr>
          <a:xfrm>
            <a:off x="2312313" y="3063638"/>
            <a:ext cx="5293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a12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184138" y="1074024"/>
            <a:ext cx="5405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b21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4809049" y="1547894"/>
            <a:ext cx="5524113" cy="395048"/>
            <a:chOff x="2312313" y="1548368"/>
            <a:chExt cx="5524113" cy="395048"/>
          </a:xfrm>
        </p:grpSpPr>
        <p:sp>
          <p:nvSpPr>
            <p:cNvPr id="3" name="TextBox 2"/>
            <p:cNvSpPr txBox="1"/>
            <p:nvPr/>
          </p:nvSpPr>
          <p:spPr>
            <a:xfrm>
              <a:off x="2312313" y="1574084"/>
              <a:ext cx="5293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a02</a:t>
              </a: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4878220" y="1548368"/>
              <a:ext cx="5293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a01</a:t>
              </a:r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7307114" y="1574084"/>
              <a:ext cx="5293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a00</a:t>
              </a:r>
            </a:p>
          </p:txBody>
        </p:sp>
      </p:grpSp>
      <p:sp>
        <p:nvSpPr>
          <p:cNvPr id="55" name="TextBox 54"/>
          <p:cNvSpPr txBox="1"/>
          <p:nvPr/>
        </p:nvSpPr>
        <p:spPr>
          <a:xfrm>
            <a:off x="8613032" y="1099740"/>
            <a:ext cx="5405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b12</a:t>
            </a:r>
          </a:p>
        </p:txBody>
      </p:sp>
      <p:grpSp>
        <p:nvGrpSpPr>
          <p:cNvPr id="56" name="Group 55"/>
          <p:cNvGrpSpPr/>
          <p:nvPr/>
        </p:nvGrpSpPr>
        <p:grpSpPr>
          <a:xfrm>
            <a:off x="4836162" y="2588183"/>
            <a:ext cx="1846451" cy="843676"/>
            <a:chOff x="2312313" y="1099740"/>
            <a:chExt cx="1846451" cy="843676"/>
          </a:xfrm>
        </p:grpSpPr>
        <p:sp>
          <p:nvSpPr>
            <p:cNvPr id="57" name="TextBox 56"/>
            <p:cNvSpPr txBox="1"/>
            <p:nvPr/>
          </p:nvSpPr>
          <p:spPr>
            <a:xfrm>
              <a:off x="2312313" y="1574084"/>
              <a:ext cx="5293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a11</a:t>
              </a:r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3618231" y="1099740"/>
              <a:ext cx="54053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b11</a:t>
              </a:r>
            </a:p>
          </p:txBody>
        </p:sp>
      </p:grpSp>
      <p:sp>
        <p:nvSpPr>
          <p:cNvPr id="60" name="TextBox 59"/>
          <p:cNvSpPr txBox="1"/>
          <p:nvPr/>
        </p:nvSpPr>
        <p:spPr>
          <a:xfrm>
            <a:off x="2312313" y="4581288"/>
            <a:ext cx="5293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a21</a:t>
            </a:r>
          </a:p>
        </p:txBody>
      </p:sp>
      <p:grpSp>
        <p:nvGrpSpPr>
          <p:cNvPr id="9" name="Group 8"/>
          <p:cNvGrpSpPr/>
          <p:nvPr/>
        </p:nvGrpSpPr>
        <p:grpSpPr>
          <a:xfrm>
            <a:off x="3605847" y="2588183"/>
            <a:ext cx="540533" cy="3376536"/>
            <a:chOff x="3618231" y="1099740"/>
            <a:chExt cx="540533" cy="3376536"/>
          </a:xfrm>
        </p:grpSpPr>
        <p:sp>
          <p:nvSpPr>
            <p:cNvPr id="46" name="TextBox 45"/>
            <p:cNvSpPr txBox="1"/>
            <p:nvPr/>
          </p:nvSpPr>
          <p:spPr>
            <a:xfrm>
              <a:off x="3618231" y="1099740"/>
              <a:ext cx="54053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b20</a:t>
              </a: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3618231" y="2589294"/>
              <a:ext cx="54053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b10</a:t>
              </a:r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3618231" y="4106944"/>
              <a:ext cx="54053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b00</a:t>
              </a:r>
            </a:p>
          </p:txBody>
        </p:sp>
      </p:grpSp>
      <p:grpSp>
        <p:nvGrpSpPr>
          <p:cNvPr id="62" name="Group 61"/>
          <p:cNvGrpSpPr/>
          <p:nvPr/>
        </p:nvGrpSpPr>
        <p:grpSpPr>
          <a:xfrm>
            <a:off x="7331285" y="2588183"/>
            <a:ext cx="1846451" cy="843676"/>
            <a:chOff x="2312313" y="1099740"/>
            <a:chExt cx="1846451" cy="843676"/>
          </a:xfrm>
        </p:grpSpPr>
        <p:sp>
          <p:nvSpPr>
            <p:cNvPr id="63" name="TextBox 62"/>
            <p:cNvSpPr txBox="1"/>
            <p:nvPr/>
          </p:nvSpPr>
          <p:spPr>
            <a:xfrm>
              <a:off x="2312313" y="1574084"/>
              <a:ext cx="5293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a10</a:t>
              </a:r>
            </a:p>
          </p:txBody>
        </p:sp>
        <p:sp>
          <p:nvSpPr>
            <p:cNvPr id="64" name="TextBox 63"/>
            <p:cNvSpPr txBox="1"/>
            <p:nvPr/>
          </p:nvSpPr>
          <p:spPr>
            <a:xfrm>
              <a:off x="3618231" y="1099740"/>
              <a:ext cx="54053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b02</a:t>
              </a:r>
            </a:p>
          </p:txBody>
        </p:sp>
      </p:grpSp>
      <p:grpSp>
        <p:nvGrpSpPr>
          <p:cNvPr id="65" name="Group 64"/>
          <p:cNvGrpSpPr/>
          <p:nvPr/>
        </p:nvGrpSpPr>
        <p:grpSpPr>
          <a:xfrm>
            <a:off x="4809049" y="4087025"/>
            <a:ext cx="1846451" cy="843676"/>
            <a:chOff x="2312313" y="1099740"/>
            <a:chExt cx="1846451" cy="843676"/>
          </a:xfrm>
        </p:grpSpPr>
        <p:sp>
          <p:nvSpPr>
            <p:cNvPr id="66" name="TextBox 65"/>
            <p:cNvSpPr txBox="1"/>
            <p:nvPr/>
          </p:nvSpPr>
          <p:spPr>
            <a:xfrm>
              <a:off x="2312313" y="1574084"/>
              <a:ext cx="5293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a20</a:t>
              </a:r>
            </a:p>
          </p:txBody>
        </p:sp>
        <p:sp>
          <p:nvSpPr>
            <p:cNvPr id="67" name="TextBox 66"/>
            <p:cNvSpPr txBox="1"/>
            <p:nvPr/>
          </p:nvSpPr>
          <p:spPr>
            <a:xfrm>
              <a:off x="3618231" y="1099740"/>
              <a:ext cx="54053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b01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066360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" name="Group 44"/>
          <p:cNvGrpSpPr/>
          <p:nvPr/>
        </p:nvGrpSpPr>
        <p:grpSpPr>
          <a:xfrm>
            <a:off x="1406525" y="491172"/>
            <a:ext cx="9378950" cy="5875656"/>
            <a:chOff x="1377950" y="491172"/>
            <a:chExt cx="9378950" cy="5875656"/>
          </a:xfrm>
        </p:grpSpPr>
        <p:grpSp>
          <p:nvGrpSpPr>
            <p:cNvPr id="17" name="Group 16"/>
            <p:cNvGrpSpPr/>
            <p:nvPr/>
          </p:nvGrpSpPr>
          <p:grpSpPr>
            <a:xfrm>
              <a:off x="2870200" y="1469072"/>
              <a:ext cx="6451600" cy="3919856"/>
              <a:chOff x="2476500" y="1612900"/>
              <a:chExt cx="6451600" cy="3919856"/>
            </a:xfrm>
          </p:grpSpPr>
          <p:sp>
            <p:nvSpPr>
              <p:cNvPr id="6" name="Rectangle 5"/>
              <p:cNvSpPr/>
              <p:nvPr/>
            </p:nvSpPr>
            <p:spPr>
              <a:xfrm>
                <a:off x="2476500" y="1612900"/>
                <a:ext cx="1473200" cy="914400"/>
              </a:xfrm>
              <a:prstGeom prst="rect">
                <a:avLst/>
              </a:prstGeom>
              <a:ln>
                <a:solidFill>
                  <a:schemeClr val="accent3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/>
                  <a:t>C=a00b00+a01b10+a02b20</a:t>
                </a:r>
                <a:endParaRPr lang="en-US"/>
              </a:p>
            </p:txBody>
          </p:sp>
          <p:sp>
            <p:nvSpPr>
              <p:cNvPr id="7" name="Rectangle 6"/>
              <p:cNvSpPr/>
              <p:nvPr/>
            </p:nvSpPr>
            <p:spPr>
              <a:xfrm>
                <a:off x="4965700" y="1612900"/>
                <a:ext cx="1473200" cy="914400"/>
              </a:xfrm>
              <a:prstGeom prst="rect">
                <a:avLst/>
              </a:prstGeom>
              <a:ln>
                <a:solidFill>
                  <a:schemeClr val="accent3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/>
                  <a:t>C=a00b01+a01b11+a02b21</a:t>
                </a:r>
                <a:endParaRPr lang="en-US"/>
              </a:p>
            </p:txBody>
          </p:sp>
          <p:sp>
            <p:nvSpPr>
              <p:cNvPr id="8" name="Rectangle 7"/>
              <p:cNvSpPr/>
              <p:nvPr/>
            </p:nvSpPr>
            <p:spPr>
              <a:xfrm>
                <a:off x="7454900" y="1612900"/>
                <a:ext cx="1473200" cy="914400"/>
              </a:xfrm>
              <a:prstGeom prst="rect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/>
                  <a:t>C=a00b02+a01b12+a02b22</a:t>
                </a:r>
                <a:endParaRPr lang="en-US"/>
              </a:p>
            </p:txBody>
          </p:sp>
          <p:sp>
            <p:nvSpPr>
              <p:cNvPr id="11" name="Rectangle 10"/>
              <p:cNvSpPr/>
              <p:nvPr/>
            </p:nvSpPr>
            <p:spPr>
              <a:xfrm>
                <a:off x="2476500" y="3115628"/>
                <a:ext cx="1473200" cy="914400"/>
              </a:xfrm>
              <a:prstGeom prst="rect">
                <a:avLst/>
              </a:prstGeom>
              <a:ln>
                <a:solidFill>
                  <a:schemeClr val="accent3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/>
                  <a:t>C=a10b00+a11b10+a12b20</a:t>
                </a:r>
                <a:endParaRPr lang="en-US"/>
              </a:p>
            </p:txBody>
          </p:sp>
          <p:sp>
            <p:nvSpPr>
              <p:cNvPr id="12" name="Rectangle 11"/>
              <p:cNvSpPr/>
              <p:nvPr/>
            </p:nvSpPr>
            <p:spPr>
              <a:xfrm>
                <a:off x="4965700" y="3115628"/>
                <a:ext cx="1473200" cy="914400"/>
              </a:xfrm>
              <a:prstGeom prst="rect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/>
                  <a:t>C=a10b01+a11b11+a12b21</a:t>
                </a:r>
                <a:endParaRPr lang="en-US"/>
              </a:p>
            </p:txBody>
          </p:sp>
          <p:sp>
            <p:nvSpPr>
              <p:cNvPr id="13" name="Rectangle 12"/>
              <p:cNvSpPr/>
              <p:nvPr/>
            </p:nvSpPr>
            <p:spPr>
              <a:xfrm>
                <a:off x="7454900" y="3115628"/>
                <a:ext cx="1473200" cy="914400"/>
              </a:xfrm>
              <a:prstGeom prst="rect">
                <a:avLst/>
              </a:prstGeom>
              <a:ln>
                <a:solidFill>
                  <a:schemeClr val="accent5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/>
                  <a:t>C=a10b02+a11b12</a:t>
                </a:r>
                <a:endParaRPr lang="en-US"/>
              </a:p>
            </p:txBody>
          </p:sp>
          <p:sp>
            <p:nvSpPr>
              <p:cNvPr id="14" name="Rectangle 13"/>
              <p:cNvSpPr/>
              <p:nvPr/>
            </p:nvSpPr>
            <p:spPr>
              <a:xfrm>
                <a:off x="2476500" y="4618356"/>
                <a:ext cx="1473200" cy="914400"/>
              </a:xfrm>
              <a:prstGeom prst="rect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/>
                  <a:t>C=a20b00+a21b10+a22b20</a:t>
                </a:r>
                <a:endParaRPr lang="en-US"/>
              </a:p>
            </p:txBody>
          </p:sp>
          <p:sp>
            <p:nvSpPr>
              <p:cNvPr id="15" name="Rectangle 14"/>
              <p:cNvSpPr/>
              <p:nvPr/>
            </p:nvSpPr>
            <p:spPr>
              <a:xfrm>
                <a:off x="4965700" y="4618356"/>
                <a:ext cx="1473200" cy="914400"/>
              </a:xfrm>
              <a:prstGeom prst="rect">
                <a:avLst/>
              </a:prstGeom>
              <a:ln>
                <a:solidFill>
                  <a:schemeClr val="accent5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/>
                  <a:t>C=a20b01+a21b11</a:t>
                </a:r>
                <a:endParaRPr lang="en-US"/>
              </a:p>
            </p:txBody>
          </p:sp>
          <p:sp>
            <p:nvSpPr>
              <p:cNvPr id="16" name="Rectangle 15"/>
              <p:cNvSpPr/>
              <p:nvPr/>
            </p:nvSpPr>
            <p:spPr>
              <a:xfrm>
                <a:off x="7454900" y="4618356"/>
                <a:ext cx="1473200" cy="914400"/>
              </a:xfrm>
              <a:prstGeom prst="rect">
                <a:avLst/>
              </a:prstGeom>
              <a:ln>
                <a:solidFill>
                  <a:schemeClr val="accent6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/>
                  <a:t>C=a20b02</a:t>
                </a:r>
              </a:p>
            </p:txBody>
          </p:sp>
        </p:grpSp>
        <p:cxnSp>
          <p:nvCxnSpPr>
            <p:cNvPr id="19" name="Straight Arrow Connector 18"/>
            <p:cNvCxnSpPr>
              <a:endCxn id="6" idx="1"/>
            </p:cNvCxnSpPr>
            <p:nvPr/>
          </p:nvCxnSpPr>
          <p:spPr>
            <a:xfrm>
              <a:off x="1435100" y="1917700"/>
              <a:ext cx="1435100" cy="857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/>
            <p:cNvCxnSpPr>
              <a:stCxn id="6" idx="3"/>
            </p:cNvCxnSpPr>
            <p:nvPr/>
          </p:nvCxnSpPr>
          <p:spPr>
            <a:xfrm>
              <a:off x="4343400" y="1926272"/>
              <a:ext cx="977900" cy="857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/>
            <p:cNvCxnSpPr/>
            <p:nvPr/>
          </p:nvCxnSpPr>
          <p:spPr>
            <a:xfrm>
              <a:off x="6870700" y="1934844"/>
              <a:ext cx="977900" cy="857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/>
            <p:cNvCxnSpPr/>
            <p:nvPr/>
          </p:nvCxnSpPr>
          <p:spPr>
            <a:xfrm>
              <a:off x="6851650" y="3420428"/>
              <a:ext cx="977900" cy="857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/>
            <p:cNvCxnSpPr/>
            <p:nvPr/>
          </p:nvCxnSpPr>
          <p:spPr>
            <a:xfrm>
              <a:off x="6851650" y="4906012"/>
              <a:ext cx="977900" cy="857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/>
            <p:cNvCxnSpPr/>
            <p:nvPr/>
          </p:nvCxnSpPr>
          <p:spPr>
            <a:xfrm>
              <a:off x="4381500" y="4935382"/>
              <a:ext cx="977900" cy="857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/>
            <p:cNvCxnSpPr/>
            <p:nvPr/>
          </p:nvCxnSpPr>
          <p:spPr>
            <a:xfrm>
              <a:off x="4381500" y="3432970"/>
              <a:ext cx="977900" cy="857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/>
            <p:cNvCxnSpPr/>
            <p:nvPr/>
          </p:nvCxnSpPr>
          <p:spPr>
            <a:xfrm>
              <a:off x="1397000" y="3416142"/>
              <a:ext cx="1435100" cy="857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/>
            <p:cNvCxnSpPr/>
            <p:nvPr/>
          </p:nvCxnSpPr>
          <p:spPr>
            <a:xfrm>
              <a:off x="1377950" y="4914584"/>
              <a:ext cx="1435100" cy="857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/>
            <p:cNvCxnSpPr/>
            <p:nvPr/>
          </p:nvCxnSpPr>
          <p:spPr>
            <a:xfrm>
              <a:off x="9321800" y="1943416"/>
              <a:ext cx="1435100" cy="857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/>
            <p:cNvCxnSpPr/>
            <p:nvPr/>
          </p:nvCxnSpPr>
          <p:spPr>
            <a:xfrm>
              <a:off x="9321800" y="3407570"/>
              <a:ext cx="1435100" cy="857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Arrow Connector 30"/>
            <p:cNvCxnSpPr/>
            <p:nvPr/>
          </p:nvCxnSpPr>
          <p:spPr>
            <a:xfrm>
              <a:off x="9321800" y="4906012"/>
              <a:ext cx="1435100" cy="857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/>
            <p:cNvCxnSpPr/>
            <p:nvPr/>
          </p:nvCxnSpPr>
          <p:spPr>
            <a:xfrm rot="5400000">
              <a:off x="8100536" y="975836"/>
              <a:ext cx="977900" cy="857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/>
            <p:cNvCxnSpPr/>
            <p:nvPr/>
          </p:nvCxnSpPr>
          <p:spPr>
            <a:xfrm rot="5400000">
              <a:off x="8091964" y="5873592"/>
              <a:ext cx="977900" cy="857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/>
            <p:cNvCxnSpPr/>
            <p:nvPr/>
          </p:nvCxnSpPr>
          <p:spPr>
            <a:xfrm rot="5400000">
              <a:off x="5611336" y="5858670"/>
              <a:ext cx="977900" cy="857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/>
            <p:cNvCxnSpPr/>
            <p:nvPr/>
          </p:nvCxnSpPr>
          <p:spPr>
            <a:xfrm rot="5400000">
              <a:off x="5602764" y="975836"/>
              <a:ext cx="977900" cy="857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/>
            <p:cNvCxnSpPr/>
            <p:nvPr/>
          </p:nvCxnSpPr>
          <p:spPr>
            <a:xfrm rot="5400000">
              <a:off x="3122136" y="975836"/>
              <a:ext cx="977900" cy="857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6"/>
            <p:cNvCxnSpPr/>
            <p:nvPr/>
          </p:nvCxnSpPr>
          <p:spPr>
            <a:xfrm rot="5400000">
              <a:off x="3113564" y="5858670"/>
              <a:ext cx="977900" cy="857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/>
            <p:cNvCxnSpPr>
              <a:stCxn id="6" idx="2"/>
            </p:cNvCxnSpPr>
            <p:nvPr/>
          </p:nvCxnSpPr>
          <p:spPr>
            <a:xfrm flipH="1">
              <a:off x="3589656" y="2383472"/>
              <a:ext cx="17144" cy="60325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/>
            <p:cNvCxnSpPr/>
            <p:nvPr/>
          </p:nvCxnSpPr>
          <p:spPr>
            <a:xfrm flipH="1">
              <a:off x="3615372" y="3871278"/>
              <a:ext cx="17144" cy="60325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40"/>
            <p:cNvCxnSpPr/>
            <p:nvPr/>
          </p:nvCxnSpPr>
          <p:spPr>
            <a:xfrm flipH="1">
              <a:off x="6070284" y="3871278"/>
              <a:ext cx="17144" cy="60325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Arrow Connector 41"/>
            <p:cNvCxnSpPr/>
            <p:nvPr/>
          </p:nvCxnSpPr>
          <p:spPr>
            <a:xfrm flipH="1">
              <a:off x="6096000" y="2390775"/>
              <a:ext cx="17144" cy="60325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/>
            <p:cNvCxnSpPr/>
            <p:nvPr/>
          </p:nvCxnSpPr>
          <p:spPr>
            <a:xfrm flipH="1">
              <a:off x="8602344" y="2390775"/>
              <a:ext cx="17144" cy="60325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Arrow Connector 43"/>
            <p:cNvCxnSpPr/>
            <p:nvPr/>
          </p:nvCxnSpPr>
          <p:spPr>
            <a:xfrm flipH="1">
              <a:off x="8593772" y="3876675"/>
              <a:ext cx="17144" cy="60325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8" name="TextBox 47"/>
          <p:cNvSpPr txBox="1"/>
          <p:nvPr/>
        </p:nvSpPr>
        <p:spPr>
          <a:xfrm>
            <a:off x="4826457" y="3062527"/>
            <a:ext cx="5293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a12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133147" y="2585724"/>
            <a:ext cx="5405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b21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7309763" y="1560231"/>
            <a:ext cx="3475712" cy="391757"/>
            <a:chOff x="4813027" y="1560705"/>
            <a:chExt cx="3475712" cy="391757"/>
          </a:xfrm>
        </p:grpSpPr>
        <p:sp>
          <p:nvSpPr>
            <p:cNvPr id="3" name="TextBox 2"/>
            <p:cNvSpPr txBox="1"/>
            <p:nvPr/>
          </p:nvSpPr>
          <p:spPr>
            <a:xfrm>
              <a:off x="4813027" y="1560705"/>
              <a:ext cx="52931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/>
                <a:t>a02</a:t>
              </a: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7302227" y="1565549"/>
              <a:ext cx="5293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a01</a:t>
              </a:r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7759427" y="1583130"/>
              <a:ext cx="5293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a00</a:t>
              </a:r>
            </a:p>
          </p:txBody>
        </p:sp>
      </p:grpSp>
      <p:sp>
        <p:nvSpPr>
          <p:cNvPr id="55" name="TextBox 54"/>
          <p:cNvSpPr txBox="1"/>
          <p:nvPr/>
        </p:nvSpPr>
        <p:spPr>
          <a:xfrm>
            <a:off x="8613032" y="1099740"/>
            <a:ext cx="5405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b22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270314" y="3046810"/>
            <a:ext cx="5293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a11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107431" y="4071708"/>
            <a:ext cx="5405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b11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312313" y="4581288"/>
            <a:ext cx="5293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a22</a:t>
            </a:r>
          </a:p>
        </p:txBody>
      </p:sp>
      <p:grpSp>
        <p:nvGrpSpPr>
          <p:cNvPr id="9" name="Group 8"/>
          <p:cNvGrpSpPr/>
          <p:nvPr/>
        </p:nvGrpSpPr>
        <p:grpSpPr>
          <a:xfrm>
            <a:off x="3604523" y="4071708"/>
            <a:ext cx="554241" cy="2262343"/>
            <a:chOff x="3616907" y="2583265"/>
            <a:chExt cx="554241" cy="2262343"/>
          </a:xfrm>
        </p:grpSpPr>
        <p:sp>
          <p:nvSpPr>
            <p:cNvPr id="46" name="TextBox 45"/>
            <p:cNvSpPr txBox="1"/>
            <p:nvPr/>
          </p:nvSpPr>
          <p:spPr>
            <a:xfrm>
              <a:off x="3630615" y="2583265"/>
              <a:ext cx="54053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b20</a:t>
              </a: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3616907" y="4127352"/>
              <a:ext cx="54053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b10</a:t>
              </a:r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3618231" y="4476276"/>
              <a:ext cx="54053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b00</a:t>
              </a:r>
            </a:p>
          </p:txBody>
        </p:sp>
      </p:grpSp>
      <p:sp>
        <p:nvSpPr>
          <p:cNvPr id="63" name="TextBox 62"/>
          <p:cNvSpPr txBox="1"/>
          <p:nvPr/>
        </p:nvSpPr>
        <p:spPr>
          <a:xfrm>
            <a:off x="10256163" y="3062527"/>
            <a:ext cx="5293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a10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639491" y="4071708"/>
            <a:ext cx="5405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b02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309763" y="4519536"/>
            <a:ext cx="5293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a20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076579" y="5964719"/>
            <a:ext cx="5405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b01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639490" y="2556233"/>
            <a:ext cx="5405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b12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817388" y="4545252"/>
            <a:ext cx="5293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a21</a:t>
            </a:r>
          </a:p>
        </p:txBody>
      </p:sp>
    </p:spTree>
    <p:extLst>
      <p:ext uri="{BB962C8B-B14F-4D97-AF65-F5344CB8AC3E}">
        <p14:creationId xmlns:p14="http://schemas.microsoft.com/office/powerpoint/2010/main" val="30408425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" name="Group 44"/>
          <p:cNvGrpSpPr/>
          <p:nvPr/>
        </p:nvGrpSpPr>
        <p:grpSpPr>
          <a:xfrm>
            <a:off x="1406525" y="491172"/>
            <a:ext cx="9378950" cy="5875656"/>
            <a:chOff x="1377950" y="491172"/>
            <a:chExt cx="9378950" cy="5875656"/>
          </a:xfrm>
        </p:grpSpPr>
        <p:grpSp>
          <p:nvGrpSpPr>
            <p:cNvPr id="17" name="Group 16"/>
            <p:cNvGrpSpPr/>
            <p:nvPr/>
          </p:nvGrpSpPr>
          <p:grpSpPr>
            <a:xfrm>
              <a:off x="2870200" y="1469072"/>
              <a:ext cx="6451600" cy="3919856"/>
              <a:chOff x="2476500" y="1612900"/>
              <a:chExt cx="6451600" cy="3919856"/>
            </a:xfrm>
          </p:grpSpPr>
          <p:sp>
            <p:nvSpPr>
              <p:cNvPr id="6" name="Rectangle 5"/>
              <p:cNvSpPr/>
              <p:nvPr/>
            </p:nvSpPr>
            <p:spPr>
              <a:xfrm>
                <a:off x="2476500" y="1612900"/>
                <a:ext cx="1473200" cy="914400"/>
              </a:xfrm>
              <a:prstGeom prst="rect">
                <a:avLst/>
              </a:prstGeom>
              <a:ln>
                <a:solidFill>
                  <a:schemeClr val="accent3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/>
                  <a:t>C=a00b00+a01b10+a02b20</a:t>
                </a:r>
                <a:endParaRPr lang="en-US"/>
              </a:p>
            </p:txBody>
          </p:sp>
          <p:sp>
            <p:nvSpPr>
              <p:cNvPr id="7" name="Rectangle 6"/>
              <p:cNvSpPr/>
              <p:nvPr/>
            </p:nvSpPr>
            <p:spPr>
              <a:xfrm>
                <a:off x="4965700" y="1612900"/>
                <a:ext cx="1473200" cy="914400"/>
              </a:xfrm>
              <a:prstGeom prst="rect">
                <a:avLst/>
              </a:prstGeom>
              <a:ln>
                <a:solidFill>
                  <a:schemeClr val="accent3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/>
                  <a:t>C=a00b01+a01b11+a02b21</a:t>
                </a:r>
                <a:endParaRPr lang="en-US"/>
              </a:p>
            </p:txBody>
          </p:sp>
          <p:sp>
            <p:nvSpPr>
              <p:cNvPr id="8" name="Rectangle 7"/>
              <p:cNvSpPr/>
              <p:nvPr/>
            </p:nvSpPr>
            <p:spPr>
              <a:xfrm>
                <a:off x="7454900" y="1612900"/>
                <a:ext cx="1473200" cy="914400"/>
              </a:xfrm>
              <a:prstGeom prst="rect">
                <a:avLst/>
              </a:prstGeom>
              <a:ln>
                <a:solidFill>
                  <a:schemeClr val="accent3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/>
                  <a:t>C=a00b02+a01b12+a02b22</a:t>
                </a:r>
                <a:endParaRPr lang="en-US"/>
              </a:p>
            </p:txBody>
          </p:sp>
          <p:sp>
            <p:nvSpPr>
              <p:cNvPr id="11" name="Rectangle 10"/>
              <p:cNvSpPr/>
              <p:nvPr/>
            </p:nvSpPr>
            <p:spPr>
              <a:xfrm>
                <a:off x="2476500" y="3115628"/>
                <a:ext cx="1473200" cy="914400"/>
              </a:xfrm>
              <a:prstGeom prst="rect">
                <a:avLst/>
              </a:prstGeom>
              <a:ln>
                <a:solidFill>
                  <a:schemeClr val="accent3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/>
                  <a:t>C=a10b00+a11b10+a12b20</a:t>
                </a:r>
                <a:endParaRPr lang="en-US"/>
              </a:p>
            </p:txBody>
          </p:sp>
          <p:sp>
            <p:nvSpPr>
              <p:cNvPr id="12" name="Rectangle 11"/>
              <p:cNvSpPr/>
              <p:nvPr/>
            </p:nvSpPr>
            <p:spPr>
              <a:xfrm>
                <a:off x="4965700" y="3115628"/>
                <a:ext cx="1473200" cy="914400"/>
              </a:xfrm>
              <a:prstGeom prst="rect">
                <a:avLst/>
              </a:prstGeom>
              <a:ln>
                <a:solidFill>
                  <a:schemeClr val="accent3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/>
                  <a:t>C=a10b01+a11b11+a12b21</a:t>
                </a:r>
                <a:endParaRPr lang="en-US"/>
              </a:p>
            </p:txBody>
          </p:sp>
          <p:sp>
            <p:nvSpPr>
              <p:cNvPr id="13" name="Rectangle 12"/>
              <p:cNvSpPr/>
              <p:nvPr/>
            </p:nvSpPr>
            <p:spPr>
              <a:xfrm>
                <a:off x="7454900" y="3115628"/>
                <a:ext cx="1473200" cy="914400"/>
              </a:xfrm>
              <a:prstGeom prst="rect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/>
                  <a:t>C=a10b02+a11b12+a12b22</a:t>
                </a:r>
                <a:endParaRPr lang="en-US"/>
              </a:p>
            </p:txBody>
          </p:sp>
          <p:sp>
            <p:nvSpPr>
              <p:cNvPr id="14" name="Rectangle 13"/>
              <p:cNvSpPr/>
              <p:nvPr/>
            </p:nvSpPr>
            <p:spPr>
              <a:xfrm>
                <a:off x="2476500" y="4618356"/>
                <a:ext cx="1473200" cy="914400"/>
              </a:xfrm>
              <a:prstGeom prst="rect">
                <a:avLst/>
              </a:prstGeom>
              <a:ln>
                <a:solidFill>
                  <a:schemeClr val="accent3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/>
                  <a:t>C=a20b00+a21b10+a22b20</a:t>
                </a:r>
                <a:endParaRPr lang="en-US"/>
              </a:p>
            </p:txBody>
          </p:sp>
          <p:sp>
            <p:nvSpPr>
              <p:cNvPr id="15" name="Rectangle 14"/>
              <p:cNvSpPr/>
              <p:nvPr/>
            </p:nvSpPr>
            <p:spPr>
              <a:xfrm>
                <a:off x="4965700" y="4618356"/>
                <a:ext cx="1473200" cy="914400"/>
              </a:xfrm>
              <a:prstGeom prst="rect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/>
                  <a:t>C=a20b01+a21b11+a22b21</a:t>
                </a:r>
                <a:endParaRPr lang="en-US"/>
              </a:p>
            </p:txBody>
          </p:sp>
          <p:sp>
            <p:nvSpPr>
              <p:cNvPr id="16" name="Rectangle 15"/>
              <p:cNvSpPr/>
              <p:nvPr/>
            </p:nvSpPr>
            <p:spPr>
              <a:xfrm>
                <a:off x="7454900" y="4618356"/>
                <a:ext cx="1473200" cy="914400"/>
              </a:xfrm>
              <a:prstGeom prst="rect">
                <a:avLst/>
              </a:prstGeom>
              <a:ln>
                <a:solidFill>
                  <a:schemeClr val="accent5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/>
                  <a:t>C=a20b02+a21b12</a:t>
                </a:r>
                <a:endParaRPr lang="en-US"/>
              </a:p>
            </p:txBody>
          </p:sp>
        </p:grpSp>
        <p:cxnSp>
          <p:nvCxnSpPr>
            <p:cNvPr id="19" name="Straight Arrow Connector 18"/>
            <p:cNvCxnSpPr>
              <a:endCxn id="6" idx="1"/>
            </p:cNvCxnSpPr>
            <p:nvPr/>
          </p:nvCxnSpPr>
          <p:spPr>
            <a:xfrm>
              <a:off x="1435100" y="1917700"/>
              <a:ext cx="1435100" cy="857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/>
            <p:cNvCxnSpPr>
              <a:stCxn id="6" idx="3"/>
            </p:cNvCxnSpPr>
            <p:nvPr/>
          </p:nvCxnSpPr>
          <p:spPr>
            <a:xfrm>
              <a:off x="4343400" y="1926272"/>
              <a:ext cx="977900" cy="857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/>
            <p:cNvCxnSpPr/>
            <p:nvPr/>
          </p:nvCxnSpPr>
          <p:spPr>
            <a:xfrm>
              <a:off x="6870700" y="1934844"/>
              <a:ext cx="977900" cy="857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/>
            <p:cNvCxnSpPr/>
            <p:nvPr/>
          </p:nvCxnSpPr>
          <p:spPr>
            <a:xfrm>
              <a:off x="6851650" y="3420428"/>
              <a:ext cx="977900" cy="857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/>
            <p:cNvCxnSpPr/>
            <p:nvPr/>
          </p:nvCxnSpPr>
          <p:spPr>
            <a:xfrm>
              <a:off x="6851650" y="4906012"/>
              <a:ext cx="977900" cy="857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/>
            <p:cNvCxnSpPr/>
            <p:nvPr/>
          </p:nvCxnSpPr>
          <p:spPr>
            <a:xfrm>
              <a:off x="4381500" y="4935382"/>
              <a:ext cx="977900" cy="857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/>
            <p:cNvCxnSpPr/>
            <p:nvPr/>
          </p:nvCxnSpPr>
          <p:spPr>
            <a:xfrm>
              <a:off x="4381500" y="3432970"/>
              <a:ext cx="977900" cy="857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/>
            <p:cNvCxnSpPr/>
            <p:nvPr/>
          </p:nvCxnSpPr>
          <p:spPr>
            <a:xfrm>
              <a:off x="1397000" y="3416142"/>
              <a:ext cx="1435100" cy="857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/>
            <p:cNvCxnSpPr/>
            <p:nvPr/>
          </p:nvCxnSpPr>
          <p:spPr>
            <a:xfrm>
              <a:off x="1377950" y="4914584"/>
              <a:ext cx="1435100" cy="857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/>
            <p:cNvCxnSpPr/>
            <p:nvPr/>
          </p:nvCxnSpPr>
          <p:spPr>
            <a:xfrm>
              <a:off x="9321800" y="1943416"/>
              <a:ext cx="1435100" cy="857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/>
            <p:cNvCxnSpPr/>
            <p:nvPr/>
          </p:nvCxnSpPr>
          <p:spPr>
            <a:xfrm>
              <a:off x="9321800" y="3407570"/>
              <a:ext cx="1435100" cy="857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Arrow Connector 30"/>
            <p:cNvCxnSpPr/>
            <p:nvPr/>
          </p:nvCxnSpPr>
          <p:spPr>
            <a:xfrm>
              <a:off x="9321800" y="4906012"/>
              <a:ext cx="1435100" cy="857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/>
            <p:cNvCxnSpPr/>
            <p:nvPr/>
          </p:nvCxnSpPr>
          <p:spPr>
            <a:xfrm rot="5400000">
              <a:off x="8100536" y="975836"/>
              <a:ext cx="977900" cy="857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/>
            <p:cNvCxnSpPr/>
            <p:nvPr/>
          </p:nvCxnSpPr>
          <p:spPr>
            <a:xfrm rot="5400000">
              <a:off x="8091964" y="5873592"/>
              <a:ext cx="977900" cy="857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/>
            <p:cNvCxnSpPr/>
            <p:nvPr/>
          </p:nvCxnSpPr>
          <p:spPr>
            <a:xfrm rot="5400000">
              <a:off x="5611336" y="5858670"/>
              <a:ext cx="977900" cy="857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/>
            <p:cNvCxnSpPr/>
            <p:nvPr/>
          </p:nvCxnSpPr>
          <p:spPr>
            <a:xfrm rot="5400000">
              <a:off x="5602764" y="975836"/>
              <a:ext cx="977900" cy="857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/>
            <p:cNvCxnSpPr/>
            <p:nvPr/>
          </p:nvCxnSpPr>
          <p:spPr>
            <a:xfrm rot="5400000">
              <a:off x="3122136" y="975836"/>
              <a:ext cx="977900" cy="857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6"/>
            <p:cNvCxnSpPr/>
            <p:nvPr/>
          </p:nvCxnSpPr>
          <p:spPr>
            <a:xfrm rot="5400000">
              <a:off x="3113564" y="5858670"/>
              <a:ext cx="977900" cy="857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/>
            <p:cNvCxnSpPr>
              <a:stCxn id="6" idx="2"/>
            </p:cNvCxnSpPr>
            <p:nvPr/>
          </p:nvCxnSpPr>
          <p:spPr>
            <a:xfrm flipH="1">
              <a:off x="3589656" y="2383472"/>
              <a:ext cx="17144" cy="60325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/>
            <p:cNvCxnSpPr/>
            <p:nvPr/>
          </p:nvCxnSpPr>
          <p:spPr>
            <a:xfrm flipH="1">
              <a:off x="3615372" y="3871278"/>
              <a:ext cx="17144" cy="60325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40"/>
            <p:cNvCxnSpPr/>
            <p:nvPr/>
          </p:nvCxnSpPr>
          <p:spPr>
            <a:xfrm flipH="1">
              <a:off x="6070284" y="3871278"/>
              <a:ext cx="17144" cy="60325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Arrow Connector 41"/>
            <p:cNvCxnSpPr/>
            <p:nvPr/>
          </p:nvCxnSpPr>
          <p:spPr>
            <a:xfrm flipH="1">
              <a:off x="6096000" y="2390775"/>
              <a:ext cx="17144" cy="60325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/>
            <p:cNvCxnSpPr/>
            <p:nvPr/>
          </p:nvCxnSpPr>
          <p:spPr>
            <a:xfrm flipH="1">
              <a:off x="8602344" y="2390775"/>
              <a:ext cx="17144" cy="60325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Arrow Connector 43"/>
            <p:cNvCxnSpPr/>
            <p:nvPr/>
          </p:nvCxnSpPr>
          <p:spPr>
            <a:xfrm flipH="1">
              <a:off x="8593772" y="3876675"/>
              <a:ext cx="17144" cy="60325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" name="Group 4"/>
          <p:cNvGrpSpPr/>
          <p:nvPr/>
        </p:nvGrpSpPr>
        <p:grpSpPr>
          <a:xfrm>
            <a:off x="9350375" y="1547894"/>
            <a:ext cx="1435100" cy="369332"/>
            <a:chOff x="6853639" y="1548368"/>
            <a:chExt cx="1435100" cy="369332"/>
          </a:xfrm>
        </p:grpSpPr>
        <p:sp>
          <p:nvSpPr>
            <p:cNvPr id="3" name="TextBox 2"/>
            <p:cNvSpPr txBox="1"/>
            <p:nvPr/>
          </p:nvSpPr>
          <p:spPr>
            <a:xfrm>
              <a:off x="6853639" y="1548368"/>
              <a:ext cx="5293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a02</a:t>
              </a: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7306533" y="1548368"/>
              <a:ext cx="5293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a01</a:t>
              </a:r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7759427" y="1548368"/>
              <a:ext cx="5293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a00</a:t>
              </a:r>
            </a:p>
          </p:txBody>
        </p:sp>
      </p:grpSp>
      <p:sp>
        <p:nvSpPr>
          <p:cNvPr id="55" name="TextBox 54"/>
          <p:cNvSpPr txBox="1"/>
          <p:nvPr/>
        </p:nvSpPr>
        <p:spPr>
          <a:xfrm>
            <a:off x="8613031" y="2611119"/>
            <a:ext cx="5405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b22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849138" y="4535769"/>
            <a:ext cx="5293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a22</a:t>
            </a:r>
          </a:p>
        </p:txBody>
      </p:sp>
      <p:grpSp>
        <p:nvGrpSpPr>
          <p:cNvPr id="9" name="Group 8"/>
          <p:cNvGrpSpPr/>
          <p:nvPr/>
        </p:nvGrpSpPr>
        <p:grpSpPr>
          <a:xfrm>
            <a:off x="3614419" y="5335543"/>
            <a:ext cx="555636" cy="1007998"/>
            <a:chOff x="3626803" y="3847100"/>
            <a:chExt cx="555636" cy="1007998"/>
          </a:xfrm>
        </p:grpSpPr>
        <p:sp>
          <p:nvSpPr>
            <p:cNvPr id="46" name="TextBox 45"/>
            <p:cNvSpPr txBox="1"/>
            <p:nvPr/>
          </p:nvSpPr>
          <p:spPr>
            <a:xfrm>
              <a:off x="3641906" y="3847100"/>
              <a:ext cx="54053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b20</a:t>
              </a: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3639187" y="4171725"/>
              <a:ext cx="54053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b10</a:t>
              </a:r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3626803" y="4485766"/>
              <a:ext cx="54053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b00</a:t>
              </a:r>
            </a:p>
          </p:txBody>
        </p:sp>
      </p:grpSp>
      <p:grpSp>
        <p:nvGrpSpPr>
          <p:cNvPr id="2" name="Group 1"/>
          <p:cNvGrpSpPr/>
          <p:nvPr/>
        </p:nvGrpSpPr>
        <p:grpSpPr>
          <a:xfrm>
            <a:off x="7337316" y="3009189"/>
            <a:ext cx="3448159" cy="398381"/>
            <a:chOff x="4865332" y="3008473"/>
            <a:chExt cx="3448159" cy="398381"/>
          </a:xfrm>
        </p:grpSpPr>
        <p:sp>
          <p:nvSpPr>
            <p:cNvPr id="48" name="TextBox 47"/>
            <p:cNvSpPr txBox="1"/>
            <p:nvPr/>
          </p:nvSpPr>
          <p:spPr>
            <a:xfrm>
              <a:off x="4865332" y="3037522"/>
              <a:ext cx="5293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a12</a:t>
              </a:r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7331285" y="3008473"/>
              <a:ext cx="5293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a11</a:t>
              </a:r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7784179" y="3008473"/>
              <a:ext cx="5293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a10</a:t>
              </a:r>
            </a:p>
          </p:txBody>
        </p:sp>
      </p:grpSp>
      <p:sp>
        <p:nvSpPr>
          <p:cNvPr id="64" name="TextBox 63"/>
          <p:cNvSpPr txBox="1"/>
          <p:nvPr/>
        </p:nvSpPr>
        <p:spPr>
          <a:xfrm>
            <a:off x="8613031" y="4105196"/>
            <a:ext cx="5405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b12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337316" y="4535769"/>
            <a:ext cx="5293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a21</a:t>
            </a:r>
          </a:p>
        </p:txBody>
      </p:sp>
      <p:grpSp>
        <p:nvGrpSpPr>
          <p:cNvPr id="10" name="Group 9"/>
          <p:cNvGrpSpPr/>
          <p:nvPr/>
        </p:nvGrpSpPr>
        <p:grpSpPr>
          <a:xfrm>
            <a:off x="6103014" y="4109379"/>
            <a:ext cx="544950" cy="2234162"/>
            <a:chOff x="6101978" y="2569223"/>
            <a:chExt cx="544950" cy="2234162"/>
          </a:xfrm>
        </p:grpSpPr>
        <p:sp>
          <p:nvSpPr>
            <p:cNvPr id="52" name="TextBox 51"/>
            <p:cNvSpPr txBox="1"/>
            <p:nvPr/>
          </p:nvSpPr>
          <p:spPr>
            <a:xfrm>
              <a:off x="6106395" y="2569223"/>
              <a:ext cx="54053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b21</a:t>
              </a:r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6101978" y="4064721"/>
              <a:ext cx="54053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b11</a:t>
              </a:r>
            </a:p>
          </p:txBody>
        </p:sp>
        <p:sp>
          <p:nvSpPr>
            <p:cNvPr id="67" name="TextBox 66"/>
            <p:cNvSpPr txBox="1"/>
            <p:nvPr/>
          </p:nvSpPr>
          <p:spPr>
            <a:xfrm>
              <a:off x="6101979" y="4434053"/>
              <a:ext cx="54053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b01</a:t>
              </a:r>
            </a:p>
          </p:txBody>
        </p:sp>
      </p:grpSp>
      <p:grpSp>
        <p:nvGrpSpPr>
          <p:cNvPr id="68" name="Group 67"/>
          <p:cNvGrpSpPr/>
          <p:nvPr/>
        </p:nvGrpSpPr>
        <p:grpSpPr>
          <a:xfrm>
            <a:off x="8613031" y="4536680"/>
            <a:ext cx="2172444" cy="1806861"/>
            <a:chOff x="3594059" y="1515739"/>
            <a:chExt cx="2172444" cy="1806861"/>
          </a:xfrm>
        </p:grpSpPr>
        <p:sp>
          <p:nvSpPr>
            <p:cNvPr id="69" name="TextBox 68"/>
            <p:cNvSpPr txBox="1"/>
            <p:nvPr/>
          </p:nvSpPr>
          <p:spPr>
            <a:xfrm>
              <a:off x="5237191" y="1515739"/>
              <a:ext cx="5293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a20</a:t>
              </a:r>
            </a:p>
          </p:txBody>
        </p:sp>
        <p:sp>
          <p:nvSpPr>
            <p:cNvPr id="70" name="TextBox 69"/>
            <p:cNvSpPr txBox="1"/>
            <p:nvPr/>
          </p:nvSpPr>
          <p:spPr>
            <a:xfrm>
              <a:off x="3594059" y="2953268"/>
              <a:ext cx="54053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b02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377944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" name="Group 44"/>
          <p:cNvGrpSpPr/>
          <p:nvPr/>
        </p:nvGrpSpPr>
        <p:grpSpPr>
          <a:xfrm>
            <a:off x="1406525" y="491172"/>
            <a:ext cx="9378950" cy="5875656"/>
            <a:chOff x="1377950" y="491172"/>
            <a:chExt cx="9378950" cy="5875656"/>
          </a:xfrm>
        </p:grpSpPr>
        <p:grpSp>
          <p:nvGrpSpPr>
            <p:cNvPr id="17" name="Group 16"/>
            <p:cNvGrpSpPr/>
            <p:nvPr/>
          </p:nvGrpSpPr>
          <p:grpSpPr>
            <a:xfrm>
              <a:off x="2870200" y="1469072"/>
              <a:ext cx="6451600" cy="3919856"/>
              <a:chOff x="2476500" y="1612900"/>
              <a:chExt cx="6451600" cy="3919856"/>
            </a:xfrm>
          </p:grpSpPr>
          <p:sp>
            <p:nvSpPr>
              <p:cNvPr id="6" name="Rectangle 5"/>
              <p:cNvSpPr/>
              <p:nvPr/>
            </p:nvSpPr>
            <p:spPr>
              <a:xfrm>
                <a:off x="2476500" y="1612900"/>
                <a:ext cx="1473200" cy="914400"/>
              </a:xfrm>
              <a:prstGeom prst="rect">
                <a:avLst/>
              </a:prstGeom>
              <a:ln>
                <a:solidFill>
                  <a:schemeClr val="accent3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/>
                  <a:t>C=a00b00+a01b10+a02b20</a:t>
                </a:r>
                <a:endParaRPr lang="en-US"/>
              </a:p>
            </p:txBody>
          </p:sp>
          <p:sp>
            <p:nvSpPr>
              <p:cNvPr id="7" name="Rectangle 6"/>
              <p:cNvSpPr/>
              <p:nvPr/>
            </p:nvSpPr>
            <p:spPr>
              <a:xfrm>
                <a:off x="4965700" y="1612900"/>
                <a:ext cx="1473200" cy="914400"/>
              </a:xfrm>
              <a:prstGeom prst="rect">
                <a:avLst/>
              </a:prstGeom>
              <a:ln>
                <a:solidFill>
                  <a:schemeClr val="accent3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/>
                  <a:t>C=a00b01+a01b11+a02b21</a:t>
                </a:r>
                <a:endParaRPr lang="en-US"/>
              </a:p>
            </p:txBody>
          </p:sp>
          <p:sp>
            <p:nvSpPr>
              <p:cNvPr id="8" name="Rectangle 7"/>
              <p:cNvSpPr/>
              <p:nvPr/>
            </p:nvSpPr>
            <p:spPr>
              <a:xfrm>
                <a:off x="7454900" y="1612900"/>
                <a:ext cx="1473200" cy="914400"/>
              </a:xfrm>
              <a:prstGeom prst="rect">
                <a:avLst/>
              </a:prstGeom>
              <a:ln>
                <a:solidFill>
                  <a:schemeClr val="accent3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/>
                  <a:t>C=a00b02+a01b12+a02b22</a:t>
                </a:r>
                <a:endParaRPr lang="en-US"/>
              </a:p>
            </p:txBody>
          </p:sp>
          <p:sp>
            <p:nvSpPr>
              <p:cNvPr id="11" name="Rectangle 10"/>
              <p:cNvSpPr/>
              <p:nvPr/>
            </p:nvSpPr>
            <p:spPr>
              <a:xfrm>
                <a:off x="2476500" y="3115628"/>
                <a:ext cx="1473200" cy="914400"/>
              </a:xfrm>
              <a:prstGeom prst="rect">
                <a:avLst/>
              </a:prstGeom>
              <a:ln>
                <a:solidFill>
                  <a:schemeClr val="accent3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/>
                  <a:t>C=a10b00+a11b10+a12b20</a:t>
                </a:r>
                <a:endParaRPr lang="en-US"/>
              </a:p>
            </p:txBody>
          </p:sp>
          <p:sp>
            <p:nvSpPr>
              <p:cNvPr id="12" name="Rectangle 11"/>
              <p:cNvSpPr/>
              <p:nvPr/>
            </p:nvSpPr>
            <p:spPr>
              <a:xfrm>
                <a:off x="4965700" y="3115628"/>
                <a:ext cx="1473200" cy="914400"/>
              </a:xfrm>
              <a:prstGeom prst="rect">
                <a:avLst/>
              </a:prstGeom>
              <a:ln>
                <a:solidFill>
                  <a:schemeClr val="accent3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/>
                  <a:t>C=a10b01+a11b11+a12b21</a:t>
                </a:r>
                <a:endParaRPr lang="en-US"/>
              </a:p>
            </p:txBody>
          </p:sp>
          <p:sp>
            <p:nvSpPr>
              <p:cNvPr id="13" name="Rectangle 12"/>
              <p:cNvSpPr/>
              <p:nvPr/>
            </p:nvSpPr>
            <p:spPr>
              <a:xfrm>
                <a:off x="7454900" y="3115628"/>
                <a:ext cx="1473200" cy="914400"/>
              </a:xfrm>
              <a:prstGeom prst="rect">
                <a:avLst/>
              </a:prstGeom>
              <a:ln>
                <a:solidFill>
                  <a:schemeClr val="accent3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/>
                  <a:t>C=a10b02+a11b12+a12b22</a:t>
                </a:r>
                <a:endParaRPr lang="en-US"/>
              </a:p>
            </p:txBody>
          </p:sp>
          <p:sp>
            <p:nvSpPr>
              <p:cNvPr id="14" name="Rectangle 13"/>
              <p:cNvSpPr/>
              <p:nvPr/>
            </p:nvSpPr>
            <p:spPr>
              <a:xfrm>
                <a:off x="2476500" y="4618356"/>
                <a:ext cx="1473200" cy="914400"/>
              </a:xfrm>
              <a:prstGeom prst="rect">
                <a:avLst/>
              </a:prstGeom>
              <a:ln>
                <a:solidFill>
                  <a:schemeClr val="accent3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/>
                  <a:t>C=a20b00+a21b10+a22b20</a:t>
                </a:r>
                <a:endParaRPr lang="en-US"/>
              </a:p>
            </p:txBody>
          </p:sp>
          <p:sp>
            <p:nvSpPr>
              <p:cNvPr id="15" name="Rectangle 14"/>
              <p:cNvSpPr/>
              <p:nvPr/>
            </p:nvSpPr>
            <p:spPr>
              <a:xfrm>
                <a:off x="4965700" y="4618356"/>
                <a:ext cx="1473200" cy="914400"/>
              </a:xfrm>
              <a:prstGeom prst="rect">
                <a:avLst/>
              </a:prstGeom>
              <a:ln>
                <a:solidFill>
                  <a:schemeClr val="accent3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/>
                  <a:t>C=a20b01+a21b11+a22b21</a:t>
                </a:r>
                <a:endParaRPr lang="en-US"/>
              </a:p>
            </p:txBody>
          </p:sp>
          <p:sp>
            <p:nvSpPr>
              <p:cNvPr id="16" name="Rectangle 15"/>
              <p:cNvSpPr/>
              <p:nvPr/>
            </p:nvSpPr>
            <p:spPr>
              <a:xfrm>
                <a:off x="7454900" y="4618356"/>
                <a:ext cx="1473200" cy="914400"/>
              </a:xfrm>
              <a:prstGeom prst="rect">
                <a:avLst/>
              </a:prstGeom>
              <a:ln>
                <a:solidFill>
                  <a:schemeClr val="accent3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/>
                  <a:t>C=a20b02+a21b12+a22b22</a:t>
                </a:r>
                <a:endParaRPr lang="en-US"/>
              </a:p>
            </p:txBody>
          </p:sp>
        </p:grpSp>
        <p:cxnSp>
          <p:nvCxnSpPr>
            <p:cNvPr id="19" name="Straight Arrow Connector 18"/>
            <p:cNvCxnSpPr>
              <a:endCxn id="6" idx="1"/>
            </p:cNvCxnSpPr>
            <p:nvPr/>
          </p:nvCxnSpPr>
          <p:spPr>
            <a:xfrm>
              <a:off x="1435100" y="1917700"/>
              <a:ext cx="1435100" cy="857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/>
            <p:cNvCxnSpPr>
              <a:stCxn id="6" idx="3"/>
            </p:cNvCxnSpPr>
            <p:nvPr/>
          </p:nvCxnSpPr>
          <p:spPr>
            <a:xfrm>
              <a:off x="4343400" y="1926272"/>
              <a:ext cx="977900" cy="857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/>
            <p:cNvCxnSpPr/>
            <p:nvPr/>
          </p:nvCxnSpPr>
          <p:spPr>
            <a:xfrm>
              <a:off x="6870700" y="1934844"/>
              <a:ext cx="977900" cy="857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/>
            <p:cNvCxnSpPr/>
            <p:nvPr/>
          </p:nvCxnSpPr>
          <p:spPr>
            <a:xfrm>
              <a:off x="6851650" y="3420428"/>
              <a:ext cx="977900" cy="857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/>
            <p:cNvCxnSpPr/>
            <p:nvPr/>
          </p:nvCxnSpPr>
          <p:spPr>
            <a:xfrm>
              <a:off x="6851650" y="4906012"/>
              <a:ext cx="977900" cy="857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/>
            <p:cNvCxnSpPr/>
            <p:nvPr/>
          </p:nvCxnSpPr>
          <p:spPr>
            <a:xfrm>
              <a:off x="4381500" y="4935382"/>
              <a:ext cx="977900" cy="857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/>
            <p:cNvCxnSpPr/>
            <p:nvPr/>
          </p:nvCxnSpPr>
          <p:spPr>
            <a:xfrm>
              <a:off x="4381500" y="3432970"/>
              <a:ext cx="977900" cy="857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/>
            <p:cNvCxnSpPr/>
            <p:nvPr/>
          </p:nvCxnSpPr>
          <p:spPr>
            <a:xfrm>
              <a:off x="1397000" y="3416142"/>
              <a:ext cx="1435100" cy="857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/>
            <p:cNvCxnSpPr/>
            <p:nvPr/>
          </p:nvCxnSpPr>
          <p:spPr>
            <a:xfrm>
              <a:off x="1377950" y="4914584"/>
              <a:ext cx="1435100" cy="857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/>
            <p:cNvCxnSpPr/>
            <p:nvPr/>
          </p:nvCxnSpPr>
          <p:spPr>
            <a:xfrm>
              <a:off x="9321800" y="1943416"/>
              <a:ext cx="1435100" cy="857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/>
            <p:cNvCxnSpPr/>
            <p:nvPr/>
          </p:nvCxnSpPr>
          <p:spPr>
            <a:xfrm>
              <a:off x="9321800" y="3407570"/>
              <a:ext cx="1435100" cy="857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Arrow Connector 30"/>
            <p:cNvCxnSpPr/>
            <p:nvPr/>
          </p:nvCxnSpPr>
          <p:spPr>
            <a:xfrm>
              <a:off x="9321800" y="4906012"/>
              <a:ext cx="1435100" cy="857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/>
            <p:cNvCxnSpPr/>
            <p:nvPr/>
          </p:nvCxnSpPr>
          <p:spPr>
            <a:xfrm rot="5400000">
              <a:off x="8100536" y="975836"/>
              <a:ext cx="977900" cy="857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/>
            <p:cNvCxnSpPr/>
            <p:nvPr/>
          </p:nvCxnSpPr>
          <p:spPr>
            <a:xfrm rot="5400000">
              <a:off x="8091964" y="5873592"/>
              <a:ext cx="977900" cy="857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/>
            <p:cNvCxnSpPr/>
            <p:nvPr/>
          </p:nvCxnSpPr>
          <p:spPr>
            <a:xfrm rot="5400000">
              <a:off x="5611336" y="5858670"/>
              <a:ext cx="977900" cy="857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/>
            <p:cNvCxnSpPr/>
            <p:nvPr/>
          </p:nvCxnSpPr>
          <p:spPr>
            <a:xfrm rot="5400000">
              <a:off x="5602764" y="975836"/>
              <a:ext cx="977900" cy="857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/>
            <p:cNvCxnSpPr/>
            <p:nvPr/>
          </p:nvCxnSpPr>
          <p:spPr>
            <a:xfrm rot="5400000">
              <a:off x="3122136" y="975836"/>
              <a:ext cx="977900" cy="857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6"/>
            <p:cNvCxnSpPr/>
            <p:nvPr/>
          </p:nvCxnSpPr>
          <p:spPr>
            <a:xfrm rot="5400000">
              <a:off x="3113564" y="5858670"/>
              <a:ext cx="977900" cy="857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/>
            <p:cNvCxnSpPr>
              <a:stCxn id="6" idx="2"/>
            </p:cNvCxnSpPr>
            <p:nvPr/>
          </p:nvCxnSpPr>
          <p:spPr>
            <a:xfrm flipH="1">
              <a:off x="3589656" y="2383472"/>
              <a:ext cx="17144" cy="60325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/>
            <p:cNvCxnSpPr/>
            <p:nvPr/>
          </p:nvCxnSpPr>
          <p:spPr>
            <a:xfrm flipH="1">
              <a:off x="3615372" y="3871278"/>
              <a:ext cx="17144" cy="60325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40"/>
            <p:cNvCxnSpPr/>
            <p:nvPr/>
          </p:nvCxnSpPr>
          <p:spPr>
            <a:xfrm flipH="1">
              <a:off x="6070284" y="3871278"/>
              <a:ext cx="17144" cy="60325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Arrow Connector 41"/>
            <p:cNvCxnSpPr/>
            <p:nvPr/>
          </p:nvCxnSpPr>
          <p:spPr>
            <a:xfrm flipH="1">
              <a:off x="6096000" y="2390775"/>
              <a:ext cx="17144" cy="60325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/>
            <p:cNvCxnSpPr/>
            <p:nvPr/>
          </p:nvCxnSpPr>
          <p:spPr>
            <a:xfrm flipH="1">
              <a:off x="8602344" y="2390775"/>
              <a:ext cx="17144" cy="60325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Arrow Connector 43"/>
            <p:cNvCxnSpPr/>
            <p:nvPr/>
          </p:nvCxnSpPr>
          <p:spPr>
            <a:xfrm flipH="1">
              <a:off x="8593772" y="3876675"/>
              <a:ext cx="17144" cy="60325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" name="Group 4"/>
          <p:cNvGrpSpPr/>
          <p:nvPr/>
        </p:nvGrpSpPr>
        <p:grpSpPr>
          <a:xfrm>
            <a:off x="9350375" y="1547894"/>
            <a:ext cx="1435100" cy="369332"/>
            <a:chOff x="6853639" y="1548368"/>
            <a:chExt cx="1435100" cy="369332"/>
          </a:xfrm>
        </p:grpSpPr>
        <p:sp>
          <p:nvSpPr>
            <p:cNvPr id="3" name="TextBox 2"/>
            <p:cNvSpPr txBox="1"/>
            <p:nvPr/>
          </p:nvSpPr>
          <p:spPr>
            <a:xfrm>
              <a:off x="6853639" y="1548368"/>
              <a:ext cx="5293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a02</a:t>
              </a: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7306533" y="1548368"/>
              <a:ext cx="5293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a01</a:t>
              </a:r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7759427" y="1548368"/>
              <a:ext cx="5293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a00</a:t>
              </a:r>
            </a:p>
          </p:txBody>
        </p:sp>
      </p:grpSp>
      <p:sp>
        <p:nvSpPr>
          <p:cNvPr id="55" name="TextBox 54"/>
          <p:cNvSpPr txBox="1"/>
          <p:nvPr/>
        </p:nvSpPr>
        <p:spPr>
          <a:xfrm>
            <a:off x="8622347" y="4066426"/>
            <a:ext cx="5405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b22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314069" y="4532236"/>
            <a:ext cx="5293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a22</a:t>
            </a:r>
          </a:p>
        </p:txBody>
      </p:sp>
      <p:grpSp>
        <p:nvGrpSpPr>
          <p:cNvPr id="9" name="Group 8"/>
          <p:cNvGrpSpPr/>
          <p:nvPr/>
        </p:nvGrpSpPr>
        <p:grpSpPr>
          <a:xfrm>
            <a:off x="3614419" y="5335543"/>
            <a:ext cx="555636" cy="1007998"/>
            <a:chOff x="3626803" y="3847100"/>
            <a:chExt cx="555636" cy="1007998"/>
          </a:xfrm>
        </p:grpSpPr>
        <p:sp>
          <p:nvSpPr>
            <p:cNvPr id="46" name="TextBox 45"/>
            <p:cNvSpPr txBox="1"/>
            <p:nvPr/>
          </p:nvSpPr>
          <p:spPr>
            <a:xfrm>
              <a:off x="3641906" y="3847100"/>
              <a:ext cx="54053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b20</a:t>
              </a: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3639187" y="4171725"/>
              <a:ext cx="54053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b10</a:t>
              </a:r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3626803" y="4485766"/>
              <a:ext cx="54053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b00</a:t>
              </a:r>
            </a:p>
          </p:txBody>
        </p:sp>
      </p:grpSp>
      <p:grpSp>
        <p:nvGrpSpPr>
          <p:cNvPr id="2" name="Group 1"/>
          <p:cNvGrpSpPr/>
          <p:nvPr/>
        </p:nvGrpSpPr>
        <p:grpSpPr>
          <a:xfrm>
            <a:off x="9369425" y="3009189"/>
            <a:ext cx="1416050" cy="369332"/>
            <a:chOff x="6897441" y="3008473"/>
            <a:chExt cx="1416050" cy="369332"/>
          </a:xfrm>
        </p:grpSpPr>
        <p:sp>
          <p:nvSpPr>
            <p:cNvPr id="48" name="TextBox 47"/>
            <p:cNvSpPr txBox="1"/>
            <p:nvPr/>
          </p:nvSpPr>
          <p:spPr>
            <a:xfrm>
              <a:off x="6897441" y="3008473"/>
              <a:ext cx="5293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a12</a:t>
              </a:r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7331285" y="3008473"/>
              <a:ext cx="5293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a11</a:t>
              </a:r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7784179" y="3008473"/>
              <a:ext cx="5293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a10</a:t>
              </a:r>
            </a:p>
          </p:txBody>
        </p:sp>
      </p:grpSp>
      <p:sp>
        <p:nvSpPr>
          <p:cNvPr id="64" name="TextBox 63"/>
          <p:cNvSpPr txBox="1"/>
          <p:nvPr/>
        </p:nvSpPr>
        <p:spPr>
          <a:xfrm>
            <a:off x="8613031" y="5693212"/>
            <a:ext cx="5405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b12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803269" y="4532236"/>
            <a:ext cx="5293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a21</a:t>
            </a:r>
          </a:p>
        </p:txBody>
      </p:sp>
      <p:grpSp>
        <p:nvGrpSpPr>
          <p:cNvPr id="10" name="Group 9"/>
          <p:cNvGrpSpPr/>
          <p:nvPr/>
        </p:nvGrpSpPr>
        <p:grpSpPr>
          <a:xfrm>
            <a:off x="6098859" y="5335543"/>
            <a:ext cx="544689" cy="1007998"/>
            <a:chOff x="6097823" y="3795387"/>
            <a:chExt cx="544689" cy="1007998"/>
          </a:xfrm>
        </p:grpSpPr>
        <p:sp>
          <p:nvSpPr>
            <p:cNvPr id="52" name="TextBox 51"/>
            <p:cNvSpPr txBox="1"/>
            <p:nvPr/>
          </p:nvSpPr>
          <p:spPr>
            <a:xfrm>
              <a:off x="6097823" y="3795387"/>
              <a:ext cx="54053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b21</a:t>
              </a:r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6101156" y="4138134"/>
              <a:ext cx="54053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b11</a:t>
              </a:r>
            </a:p>
          </p:txBody>
        </p:sp>
        <p:sp>
          <p:nvSpPr>
            <p:cNvPr id="67" name="TextBox 66"/>
            <p:cNvSpPr txBox="1"/>
            <p:nvPr/>
          </p:nvSpPr>
          <p:spPr>
            <a:xfrm>
              <a:off x="6101979" y="4434053"/>
              <a:ext cx="54053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b01</a:t>
              </a:r>
            </a:p>
          </p:txBody>
        </p:sp>
      </p:grpSp>
      <p:grpSp>
        <p:nvGrpSpPr>
          <p:cNvPr id="68" name="Group 67"/>
          <p:cNvGrpSpPr/>
          <p:nvPr/>
        </p:nvGrpSpPr>
        <p:grpSpPr>
          <a:xfrm>
            <a:off x="8613031" y="4536680"/>
            <a:ext cx="2172444" cy="1806861"/>
            <a:chOff x="3594059" y="1515739"/>
            <a:chExt cx="2172444" cy="1806861"/>
          </a:xfrm>
        </p:grpSpPr>
        <p:sp>
          <p:nvSpPr>
            <p:cNvPr id="69" name="TextBox 68"/>
            <p:cNvSpPr txBox="1"/>
            <p:nvPr/>
          </p:nvSpPr>
          <p:spPr>
            <a:xfrm>
              <a:off x="5237191" y="1515739"/>
              <a:ext cx="5293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a20</a:t>
              </a:r>
            </a:p>
          </p:txBody>
        </p:sp>
        <p:sp>
          <p:nvSpPr>
            <p:cNvPr id="70" name="TextBox 69"/>
            <p:cNvSpPr txBox="1"/>
            <p:nvPr/>
          </p:nvSpPr>
          <p:spPr>
            <a:xfrm>
              <a:off x="3594059" y="2953268"/>
              <a:ext cx="54053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b02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669186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1A1F815-E383-83EB-29B2-38F8DAEB10F7}"/>
              </a:ext>
            </a:extLst>
          </p:cNvPr>
          <p:cNvSpPr txBox="1"/>
          <p:nvPr/>
        </p:nvSpPr>
        <p:spPr>
          <a:xfrm>
            <a:off x="1098427" y="386682"/>
            <a:ext cx="9990304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 dirty="0">
                <a:latin typeface="Times New Roman"/>
                <a:ea typeface="Calibri"/>
                <a:cs typeface="Calibri"/>
              </a:rPr>
              <a:t>Implementation of Multiplication Module</a:t>
            </a:r>
            <a:endParaRPr lang="en-US" sz="4000" dirty="0">
              <a:latin typeface="Times New Roman"/>
              <a:cs typeface="Times New Roman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5B73724-A740-D840-3638-591C95E87648}"/>
              </a:ext>
            </a:extLst>
          </p:cNvPr>
          <p:cNvSpPr txBox="1"/>
          <p:nvPr/>
        </p:nvSpPr>
        <p:spPr>
          <a:xfrm>
            <a:off x="1281868" y="1780373"/>
            <a:ext cx="8844897" cy="193899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>
                <a:latin typeface="Times New Roman"/>
                <a:ea typeface="Calibri"/>
                <a:cs typeface="Calibri"/>
              </a:rPr>
              <a:t>Multiplication logic implemented using four modules.</a:t>
            </a:r>
          </a:p>
          <a:p>
            <a:endParaRPr lang="en-US" sz="2000">
              <a:latin typeface="Times New Roman"/>
              <a:ea typeface="Calibri"/>
              <a:cs typeface="Calibri"/>
            </a:endParaRPr>
          </a:p>
          <a:p>
            <a:pPr marL="342900" indent="-342900">
              <a:buAutoNum type="arabicParenR"/>
            </a:pPr>
            <a:r>
              <a:rPr lang="en-US" sz="2000">
                <a:latin typeface="Times New Roman"/>
                <a:ea typeface="Calibri"/>
                <a:cs typeface="Calibri"/>
              </a:rPr>
              <a:t>PE module</a:t>
            </a:r>
          </a:p>
          <a:p>
            <a:pPr marL="342900" indent="-342900">
              <a:buAutoNum type="arabicParenR"/>
            </a:pPr>
            <a:r>
              <a:rPr lang="en-US" sz="2000" err="1">
                <a:latin typeface="Times New Roman"/>
                <a:ea typeface="Calibri"/>
                <a:cs typeface="Calibri"/>
              </a:rPr>
              <a:t>Matrix_multiplication</a:t>
            </a:r>
            <a:endParaRPr lang="en-US" sz="2000">
              <a:latin typeface="Times New Roman"/>
              <a:ea typeface="Calibri"/>
              <a:cs typeface="Calibri"/>
            </a:endParaRPr>
          </a:p>
          <a:p>
            <a:pPr marL="342900" indent="-342900">
              <a:buAutoNum type="arabicParenR"/>
            </a:pPr>
            <a:r>
              <a:rPr lang="en-US" sz="2000" err="1">
                <a:latin typeface="Times New Roman"/>
                <a:ea typeface="Calibri"/>
                <a:cs typeface="Calibri"/>
              </a:rPr>
              <a:t>SimplifiedMasterController</a:t>
            </a:r>
            <a:endParaRPr lang="en-US" sz="2000">
              <a:latin typeface="Times New Roman"/>
              <a:ea typeface="Calibri"/>
              <a:cs typeface="Calibri"/>
            </a:endParaRPr>
          </a:p>
          <a:p>
            <a:pPr marL="342900" indent="-342900">
              <a:buAutoNum type="arabicParenR"/>
            </a:pPr>
            <a:r>
              <a:rPr lang="en-US" sz="2000" err="1">
                <a:latin typeface="Times New Roman"/>
                <a:ea typeface="Calibri"/>
                <a:cs typeface="Arial"/>
              </a:rPr>
              <a:t>SystolicMatrixMultiplier</a:t>
            </a:r>
            <a:endParaRPr lang="en-US" sz="2000">
              <a:latin typeface="Times New Roman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327102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B942E5F-0EA3-AB85-66BD-51C83E66F399}"/>
              </a:ext>
            </a:extLst>
          </p:cNvPr>
          <p:cNvSpPr txBox="1"/>
          <p:nvPr/>
        </p:nvSpPr>
        <p:spPr>
          <a:xfrm>
            <a:off x="4097183" y="1556728"/>
            <a:ext cx="4415327" cy="5539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000">
                <a:latin typeface="Times New Roman"/>
                <a:ea typeface="Calibri"/>
                <a:cs typeface="Calibri"/>
              </a:rPr>
              <a:t>PE module</a:t>
            </a:r>
            <a:endParaRPr lang="en-US" sz="3000">
              <a:latin typeface="Times New Roman"/>
              <a:cs typeface="Times New Roman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417CF60-9FAC-4EB9-50BE-A18254A289A1}"/>
              </a:ext>
            </a:extLst>
          </p:cNvPr>
          <p:cNvSpPr txBox="1"/>
          <p:nvPr/>
        </p:nvSpPr>
        <p:spPr>
          <a:xfrm>
            <a:off x="1578093" y="2495654"/>
            <a:ext cx="9458002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>
                <a:latin typeface="Times New Roman"/>
                <a:ea typeface="Calibri"/>
                <a:cs typeface="Calibri"/>
              </a:rPr>
              <a:t>This Module is to define a single PE unit which performs the function to multiply and accumulate, and carry the output to the next PE modules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6FAEB62-0C10-6D1B-40E0-0D52321156E2}"/>
              </a:ext>
            </a:extLst>
          </p:cNvPr>
          <p:cNvSpPr txBox="1"/>
          <p:nvPr/>
        </p:nvSpPr>
        <p:spPr>
          <a:xfrm>
            <a:off x="3332859" y="413046"/>
            <a:ext cx="5925084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4000" dirty="0">
                <a:latin typeface="Times New Roman"/>
                <a:ea typeface="Calibri"/>
                <a:cs typeface="Calibri"/>
              </a:rPr>
              <a:t>Multiplying array system</a:t>
            </a:r>
            <a:endParaRPr lang="en-US" sz="4000" dirty="0">
              <a:latin typeface="Times New Roman"/>
              <a:cs typeface="Times New Roman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CD30349-96FE-046F-C4E1-145959C4FD8F}"/>
              </a:ext>
            </a:extLst>
          </p:cNvPr>
          <p:cNvSpPr txBox="1"/>
          <p:nvPr/>
        </p:nvSpPr>
        <p:spPr>
          <a:xfrm>
            <a:off x="3873841" y="3430035"/>
            <a:ext cx="4871102" cy="5539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000" err="1">
                <a:latin typeface="Times New Roman"/>
                <a:ea typeface="Calibri"/>
                <a:cs typeface="Times New Roman"/>
              </a:rPr>
              <a:t>Matrix_multiplication</a:t>
            </a:r>
            <a:endParaRPr lang="en-US" sz="3000">
              <a:latin typeface="Times New Roman"/>
              <a:cs typeface="Times New Roman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A89DCF2-52E3-149E-4B4E-97A1E383759E}"/>
              </a:ext>
            </a:extLst>
          </p:cNvPr>
          <p:cNvSpPr txBox="1"/>
          <p:nvPr/>
        </p:nvSpPr>
        <p:spPr>
          <a:xfrm>
            <a:off x="1880075" y="4529270"/>
            <a:ext cx="9528560" cy="6551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32636BA-8905-3733-C96F-491F5029B0CE}"/>
              </a:ext>
            </a:extLst>
          </p:cNvPr>
          <p:cNvSpPr txBox="1"/>
          <p:nvPr/>
        </p:nvSpPr>
        <p:spPr>
          <a:xfrm>
            <a:off x="2107962" y="4799887"/>
            <a:ext cx="9913121" cy="683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F6C81CB-D13A-1025-1112-316ACF8EE365}"/>
              </a:ext>
            </a:extLst>
          </p:cNvPr>
          <p:cNvSpPr txBox="1"/>
          <p:nvPr/>
        </p:nvSpPr>
        <p:spPr>
          <a:xfrm>
            <a:off x="1582587" y="4347545"/>
            <a:ext cx="9025663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>
                <a:latin typeface="Times New Roman"/>
                <a:ea typeface="+mn-lt"/>
                <a:cs typeface="+mn-lt"/>
              </a:rPr>
              <a:t>This module </a:t>
            </a:r>
            <a:r>
              <a:rPr lang="en-US" sz="2000" err="1">
                <a:latin typeface="Times New Roman"/>
                <a:cs typeface="Times New Roman"/>
              </a:rPr>
              <a:t>SystolicMatrixMultiplier</a:t>
            </a:r>
            <a:r>
              <a:rPr lang="en-US" sz="2000">
                <a:latin typeface="Times New Roman"/>
                <a:ea typeface="+mn-lt"/>
                <a:cs typeface="+mn-lt"/>
              </a:rPr>
              <a:t> coordinates matrix multiplication using a systolic array architecture. It connects a controller and computation unit to process 3×3 matrix inputs and produce a 3×3 output matrix</a:t>
            </a:r>
            <a:endParaRPr lang="en-US" sz="20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8540700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044371-0978-3A64-9FD8-1BFEA5EA7E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A99BC94-9473-96C8-4083-709B45A0DE3C}"/>
              </a:ext>
            </a:extLst>
          </p:cNvPr>
          <p:cNvSpPr txBox="1"/>
          <p:nvPr/>
        </p:nvSpPr>
        <p:spPr>
          <a:xfrm>
            <a:off x="3220721" y="1437834"/>
            <a:ext cx="6037222" cy="5539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000" dirty="0" err="1">
                <a:latin typeface="Times New Roman"/>
                <a:ea typeface="Calibri"/>
                <a:cs typeface="Times New Roman"/>
              </a:rPr>
              <a:t>SimplifiedMasterController</a:t>
            </a:r>
            <a:endParaRPr lang="en-US" sz="3000" dirty="0">
              <a:latin typeface="Times New Roman"/>
              <a:cs typeface="Times New Roman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1977BCA-4E6F-D02C-A891-F9B322861DDB}"/>
              </a:ext>
            </a:extLst>
          </p:cNvPr>
          <p:cNvSpPr txBox="1"/>
          <p:nvPr/>
        </p:nvSpPr>
        <p:spPr>
          <a:xfrm>
            <a:off x="3332859" y="413046"/>
            <a:ext cx="5925084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4000" dirty="0">
                <a:latin typeface="Times New Roman"/>
                <a:ea typeface="Calibri"/>
                <a:cs typeface="Calibri"/>
              </a:rPr>
              <a:t>Controlling system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5438567-406E-BAB6-CE1E-C3FF8DE460F2}"/>
              </a:ext>
            </a:extLst>
          </p:cNvPr>
          <p:cNvSpPr txBox="1"/>
          <p:nvPr/>
        </p:nvSpPr>
        <p:spPr>
          <a:xfrm>
            <a:off x="3857628" y="3657014"/>
            <a:ext cx="4871102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000" dirty="0" err="1">
                <a:latin typeface="Times New Roman"/>
                <a:ea typeface="Calibri"/>
                <a:cs typeface="Times New Roman"/>
              </a:rPr>
              <a:t>SystolicMatrixMultiplier</a:t>
            </a:r>
            <a:endParaRPr lang="en-US" sz="3000" dirty="0">
              <a:latin typeface="Times New Roman"/>
              <a:cs typeface="Times New Roman"/>
            </a:endParaRPr>
          </a:p>
          <a:p>
            <a:pPr algn="ctr"/>
            <a:endParaRPr lang="en-US" sz="3000" dirty="0">
              <a:latin typeface="Times New Roman"/>
              <a:cs typeface="Times New Roman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B926987-0199-FD26-BAF4-E5048D9EECB2}"/>
              </a:ext>
            </a:extLst>
          </p:cNvPr>
          <p:cNvSpPr txBox="1"/>
          <p:nvPr/>
        </p:nvSpPr>
        <p:spPr>
          <a:xfrm>
            <a:off x="1880075" y="4529270"/>
            <a:ext cx="9528560" cy="6551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6C01B8A-7CE4-2912-077E-CAF5AB343C9B}"/>
              </a:ext>
            </a:extLst>
          </p:cNvPr>
          <p:cNvSpPr txBox="1"/>
          <p:nvPr/>
        </p:nvSpPr>
        <p:spPr>
          <a:xfrm>
            <a:off x="2107962" y="4799887"/>
            <a:ext cx="9913121" cy="683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7E370A7-55B6-5608-10FF-E89CC7C1383C}"/>
              </a:ext>
            </a:extLst>
          </p:cNvPr>
          <p:cNvSpPr txBox="1"/>
          <p:nvPr/>
        </p:nvSpPr>
        <p:spPr>
          <a:xfrm>
            <a:off x="1582587" y="4347545"/>
            <a:ext cx="9025663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>
                <a:latin typeface="Times New Roman"/>
                <a:ea typeface="+mn-lt"/>
                <a:cs typeface="+mn-lt"/>
              </a:rPr>
              <a:t>The </a:t>
            </a:r>
            <a:r>
              <a:rPr lang="en-US" sz="2000" err="1">
                <a:latin typeface="Times New Roman"/>
                <a:ea typeface="Calibri"/>
                <a:cs typeface="Calibri"/>
              </a:rPr>
              <a:t>SystolicMatrixMultiplier</a:t>
            </a:r>
            <a:r>
              <a:rPr lang="en-US" sz="2000">
                <a:latin typeface="Times New Roman"/>
                <a:ea typeface="+mn-lt"/>
                <a:cs typeface="+mn-lt"/>
              </a:rPr>
              <a:t> is the main module that controls the entire matrix multiplication process. It coordinates between the controller and the systolic array to perform 3×3 matrix multiplication and outputs the final result along with a done signal.</a:t>
            </a:r>
            <a:endParaRPr lang="en-US" sz="2000">
              <a:latin typeface="Times New Roman"/>
              <a:cs typeface="Times New Roman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51F78E0-A370-1AD7-0456-13EE17E1EC69}"/>
              </a:ext>
            </a:extLst>
          </p:cNvPr>
          <p:cNvSpPr txBox="1"/>
          <p:nvPr/>
        </p:nvSpPr>
        <p:spPr>
          <a:xfrm>
            <a:off x="1296111" y="2236149"/>
            <a:ext cx="10482841" cy="13234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>
                <a:latin typeface="Times New Roman"/>
                <a:ea typeface="+mn-lt"/>
                <a:cs typeface="+mn-lt"/>
              </a:rPr>
              <a:t>The </a:t>
            </a:r>
            <a:r>
              <a:rPr lang="en-US" sz="2000" err="1">
                <a:latin typeface="Times New Roman"/>
                <a:cs typeface="Times New Roman"/>
              </a:rPr>
              <a:t>SimplifiedMasterController</a:t>
            </a:r>
            <a:r>
              <a:rPr lang="en-US" sz="2000">
                <a:latin typeface="Times New Roman"/>
                <a:ea typeface="+mn-lt"/>
                <a:cs typeface="+mn-lt"/>
              </a:rPr>
              <a:t> module controls the timing and flow of matrix data into the systolic array. It simulates the clock-by-clock feeding of matrix elements by sending appropriate values of matrices A and B into the array across multiple cycles, clearing the array initially and signaling completion with a </a:t>
            </a:r>
            <a:r>
              <a:rPr lang="en-US" sz="2000">
                <a:latin typeface="Times New Roman"/>
                <a:cs typeface="Times New Roman"/>
              </a:rPr>
              <a:t>done</a:t>
            </a:r>
            <a:r>
              <a:rPr lang="en-US" sz="2000">
                <a:latin typeface="Times New Roman"/>
                <a:ea typeface="+mn-lt"/>
                <a:cs typeface="+mn-lt"/>
              </a:rPr>
              <a:t> flag at the end of the data transfer process.</a:t>
            </a:r>
            <a:endParaRPr lang="en-US" sz="20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7196394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278A91-9BF5-058B-A94A-803C96D97C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119F6F5-1914-5D58-F114-25B455C1D2BF}"/>
              </a:ext>
            </a:extLst>
          </p:cNvPr>
          <p:cNvSpPr txBox="1"/>
          <p:nvPr/>
        </p:nvSpPr>
        <p:spPr>
          <a:xfrm>
            <a:off x="1766230" y="510676"/>
            <a:ext cx="8656203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>
                <a:latin typeface="Times New Roman"/>
                <a:ea typeface="Calibri"/>
                <a:cs typeface="Calibri"/>
              </a:rPr>
              <a:t>Input / Output for Multiplying Modules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84CEDA0-2B85-D99E-8227-13EE98285FB8}"/>
              </a:ext>
            </a:extLst>
          </p:cNvPr>
          <p:cNvSpPr/>
          <p:nvPr/>
        </p:nvSpPr>
        <p:spPr>
          <a:xfrm>
            <a:off x="4721903" y="3022544"/>
            <a:ext cx="2748897" cy="81185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E94546A-44B0-0E3D-BF8E-5F21D149CB01}"/>
              </a:ext>
            </a:extLst>
          </p:cNvPr>
          <p:cNvSpPr txBox="1"/>
          <p:nvPr/>
        </p:nvSpPr>
        <p:spPr>
          <a:xfrm>
            <a:off x="4812615" y="3167349"/>
            <a:ext cx="2563738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000">
                <a:latin typeface="Times New Roman"/>
                <a:cs typeface="Times New Roman"/>
              </a:rPr>
              <a:t>PE module</a:t>
            </a:r>
            <a:endParaRPr lang="en-US"/>
          </a:p>
          <a:p>
            <a:pPr algn="l"/>
            <a:endParaRPr lang="en-US">
              <a:ea typeface="Calibri"/>
              <a:cs typeface="Calibri"/>
            </a:endParaRP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C5B6993F-AA8C-9F8F-2296-AC69871B3447}"/>
              </a:ext>
            </a:extLst>
          </p:cNvPr>
          <p:cNvSpPr/>
          <p:nvPr/>
        </p:nvSpPr>
        <p:spPr>
          <a:xfrm>
            <a:off x="2265190" y="3342152"/>
            <a:ext cx="2333426" cy="239151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5B4B543-08FE-1416-9B81-022A95A599DF}"/>
              </a:ext>
            </a:extLst>
          </p:cNvPr>
          <p:cNvSpPr txBox="1"/>
          <p:nvPr/>
        </p:nvSpPr>
        <p:spPr>
          <a:xfrm>
            <a:off x="2348174" y="3623375"/>
            <a:ext cx="1994018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200">
                <a:latin typeface="Times New Roman"/>
                <a:ea typeface="Calibri"/>
                <a:cs typeface="Calibri"/>
              </a:rPr>
              <a:t>Input</a:t>
            </a:r>
            <a:endParaRPr lang="en-US" sz="2200">
              <a:latin typeface="Times New Roman"/>
              <a:cs typeface="Times New Roman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60AE4C5-3AD1-D915-0999-C9684DE7E973}"/>
              </a:ext>
            </a:extLst>
          </p:cNvPr>
          <p:cNvSpPr txBox="1"/>
          <p:nvPr/>
        </p:nvSpPr>
        <p:spPr>
          <a:xfrm>
            <a:off x="7806471" y="3628779"/>
            <a:ext cx="1994018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200">
                <a:latin typeface="Times New Roman"/>
                <a:ea typeface="Calibri"/>
                <a:cs typeface="Calibri"/>
              </a:rPr>
              <a:t>Output</a:t>
            </a:r>
            <a:endParaRPr lang="en-US" sz="2200">
              <a:latin typeface="Times New Roman"/>
              <a:cs typeface="Times New Roman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8D014A2-F9A7-795F-6697-B0893A0AA144}"/>
              </a:ext>
            </a:extLst>
          </p:cNvPr>
          <p:cNvSpPr txBox="1"/>
          <p:nvPr/>
        </p:nvSpPr>
        <p:spPr>
          <a:xfrm>
            <a:off x="1082871" y="2511816"/>
            <a:ext cx="3518018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200" err="1">
                <a:latin typeface="Times New Roman"/>
                <a:cs typeface="Times New Roman"/>
              </a:rPr>
              <a:t>Clk</a:t>
            </a:r>
            <a:r>
              <a:rPr lang="en-US" sz="2200">
                <a:latin typeface="Times New Roman"/>
                <a:cs typeface="Times New Roman"/>
              </a:rPr>
              <a:t>, reset, clear, </a:t>
            </a:r>
            <a:r>
              <a:rPr lang="en-US" sz="2200" err="1">
                <a:latin typeface="Times New Roman"/>
                <a:cs typeface="Times New Roman"/>
              </a:rPr>
              <a:t>in_a</a:t>
            </a:r>
            <a:r>
              <a:rPr lang="en-US" sz="2200">
                <a:latin typeface="Times New Roman"/>
                <a:cs typeface="Times New Roman"/>
              </a:rPr>
              <a:t>, </a:t>
            </a:r>
            <a:r>
              <a:rPr lang="en-US" sz="2200" err="1">
                <a:latin typeface="Times New Roman"/>
                <a:cs typeface="Times New Roman"/>
              </a:rPr>
              <a:t>in_b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77C8BD9-E128-F222-C9EB-7846CCEB4891}"/>
              </a:ext>
            </a:extLst>
          </p:cNvPr>
          <p:cNvSpPr txBox="1"/>
          <p:nvPr/>
        </p:nvSpPr>
        <p:spPr>
          <a:xfrm>
            <a:off x="7804826" y="2514059"/>
            <a:ext cx="3532221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200" err="1">
                <a:latin typeface="Times New Roman"/>
                <a:cs typeface="Times New Roman"/>
              </a:rPr>
              <a:t>Out_a</a:t>
            </a:r>
            <a:r>
              <a:rPr lang="en-US" sz="2200">
                <a:latin typeface="Times New Roman"/>
                <a:cs typeface="Times New Roman"/>
              </a:rPr>
              <a:t>, </a:t>
            </a:r>
            <a:r>
              <a:rPr lang="en-US" sz="2200" err="1">
                <a:latin typeface="Times New Roman"/>
                <a:cs typeface="Times New Roman"/>
              </a:rPr>
              <a:t>out_b</a:t>
            </a:r>
            <a:r>
              <a:rPr lang="en-US" sz="2200">
                <a:latin typeface="Times New Roman"/>
                <a:cs typeface="Times New Roman"/>
              </a:rPr>
              <a:t>, </a:t>
            </a:r>
            <a:r>
              <a:rPr lang="en-US" sz="2200" err="1">
                <a:latin typeface="Times New Roman"/>
                <a:cs typeface="Times New Roman"/>
              </a:rPr>
              <a:t>out_c</a:t>
            </a:r>
          </a:p>
        </p:txBody>
      </p:sp>
      <p:sp>
        <p:nvSpPr>
          <p:cNvPr id="3" name="Arrow: Right 2">
            <a:extLst>
              <a:ext uri="{FF2B5EF4-FFF2-40B4-BE49-F238E27FC236}">
                <a16:creationId xmlns:a16="http://schemas.microsoft.com/office/drawing/2014/main" id="{1B7A6173-CC4D-4460-F56D-5CCE441FF123}"/>
              </a:ext>
            </a:extLst>
          </p:cNvPr>
          <p:cNvSpPr/>
          <p:nvPr/>
        </p:nvSpPr>
        <p:spPr>
          <a:xfrm>
            <a:off x="7804551" y="3309726"/>
            <a:ext cx="2333426" cy="239151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39659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450F55-A763-3D18-5AE4-F5A1A5C000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0B5F97C-86B4-3F37-E5AD-D30F9A2900EA}"/>
              </a:ext>
            </a:extLst>
          </p:cNvPr>
          <p:cNvSpPr txBox="1"/>
          <p:nvPr/>
        </p:nvSpPr>
        <p:spPr>
          <a:xfrm>
            <a:off x="1766230" y="510676"/>
            <a:ext cx="8656203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>
                <a:latin typeface="Times New Roman"/>
                <a:ea typeface="Calibri"/>
                <a:cs typeface="Calibri"/>
              </a:rPr>
              <a:t>Input / Output for Multiplying Modules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962E1CC-8A5A-A9C9-87B4-557C7F80FB43}"/>
              </a:ext>
            </a:extLst>
          </p:cNvPr>
          <p:cNvSpPr/>
          <p:nvPr/>
        </p:nvSpPr>
        <p:spPr>
          <a:xfrm>
            <a:off x="4721903" y="3022544"/>
            <a:ext cx="2748897" cy="81185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843F001-CEC2-AC3A-9870-8F285F2A7E07}"/>
              </a:ext>
            </a:extLst>
          </p:cNvPr>
          <p:cNvSpPr txBox="1"/>
          <p:nvPr/>
        </p:nvSpPr>
        <p:spPr>
          <a:xfrm>
            <a:off x="4720743" y="3134924"/>
            <a:ext cx="2709652" cy="98488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200">
                <a:latin typeface="Times New Roman"/>
                <a:cs typeface="Times New Roman"/>
              </a:rPr>
              <a:t>matrix_multiplication</a:t>
            </a:r>
            <a:endParaRPr lang="en-US" sz="2200">
              <a:latin typeface="Times New Roman"/>
              <a:ea typeface="Calibri"/>
              <a:cs typeface="Times New Roman"/>
            </a:endParaRPr>
          </a:p>
          <a:p>
            <a:pPr algn="ctr"/>
            <a:endParaRPr lang="en-US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endParaRPr lang="en-US">
              <a:ea typeface="Calibri"/>
              <a:cs typeface="Calibri"/>
            </a:endParaRP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603D49A5-FC68-B44B-0534-0E7ECBE5E708}"/>
              </a:ext>
            </a:extLst>
          </p:cNvPr>
          <p:cNvSpPr/>
          <p:nvPr/>
        </p:nvSpPr>
        <p:spPr>
          <a:xfrm>
            <a:off x="2265190" y="3342152"/>
            <a:ext cx="2333426" cy="239151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930966E-2E7A-4B1F-6EC4-63459D9F6E5F}"/>
              </a:ext>
            </a:extLst>
          </p:cNvPr>
          <p:cNvSpPr txBox="1"/>
          <p:nvPr/>
        </p:nvSpPr>
        <p:spPr>
          <a:xfrm>
            <a:off x="2348174" y="3623375"/>
            <a:ext cx="1994018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200">
                <a:latin typeface="Times New Roman"/>
                <a:ea typeface="Calibri"/>
                <a:cs typeface="Calibri"/>
              </a:rPr>
              <a:t>Input</a:t>
            </a:r>
            <a:endParaRPr lang="en-US" sz="2200">
              <a:latin typeface="Times New Roman"/>
              <a:cs typeface="Times New Roman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48618D7-5EF7-90CC-E9E2-600AC13DB520}"/>
              </a:ext>
            </a:extLst>
          </p:cNvPr>
          <p:cNvSpPr txBox="1"/>
          <p:nvPr/>
        </p:nvSpPr>
        <p:spPr>
          <a:xfrm>
            <a:off x="7806471" y="3628779"/>
            <a:ext cx="1994018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200">
                <a:latin typeface="Times New Roman"/>
                <a:ea typeface="Calibri"/>
                <a:cs typeface="Calibri"/>
              </a:rPr>
              <a:t>Output</a:t>
            </a:r>
            <a:endParaRPr lang="en-US" sz="2200">
              <a:latin typeface="Times New Roman"/>
              <a:cs typeface="Times New Roman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27098BA-3136-A267-0D2B-46E352053DC9}"/>
              </a:ext>
            </a:extLst>
          </p:cNvPr>
          <p:cNvSpPr txBox="1"/>
          <p:nvPr/>
        </p:nvSpPr>
        <p:spPr>
          <a:xfrm>
            <a:off x="1082871" y="2511816"/>
            <a:ext cx="3518018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 err="1">
                <a:latin typeface="Times New Roman"/>
                <a:cs typeface="Times New Roman"/>
              </a:rPr>
              <a:t>Clk</a:t>
            </a:r>
            <a:r>
              <a:rPr lang="en-US" sz="2000">
                <a:latin typeface="Times New Roman"/>
                <a:cs typeface="Times New Roman"/>
              </a:rPr>
              <a:t>, reset, clear, </a:t>
            </a:r>
            <a:r>
              <a:rPr lang="en-US" sz="2000">
                <a:latin typeface="Times New Roman"/>
                <a:cs typeface="Arial"/>
              </a:rPr>
              <a:t>a1, a2, a3, b1, b2, b3</a:t>
            </a:r>
            <a:endParaRPr lang="en-US" sz="2000">
              <a:latin typeface="Times New Roman"/>
              <a:cs typeface="Times New Roman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74A9D7E-AA2C-E38F-4C25-6B336F8BD3EE}"/>
              </a:ext>
            </a:extLst>
          </p:cNvPr>
          <p:cNvSpPr txBox="1"/>
          <p:nvPr/>
        </p:nvSpPr>
        <p:spPr>
          <a:xfrm>
            <a:off x="7804826" y="2514059"/>
            <a:ext cx="3532221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>
                <a:latin typeface="Times New Roman"/>
                <a:cs typeface="Arial"/>
              </a:rPr>
              <a:t>c1, c2, c3,c4, c5, c6, c7, c8, c9</a:t>
            </a:r>
            <a:endParaRPr lang="en-US" sz="2000">
              <a:latin typeface="Times New Roman"/>
              <a:cs typeface="Times New Roman"/>
            </a:endParaRPr>
          </a:p>
        </p:txBody>
      </p:sp>
      <p:sp>
        <p:nvSpPr>
          <p:cNvPr id="3" name="Arrow: Right 2">
            <a:extLst>
              <a:ext uri="{FF2B5EF4-FFF2-40B4-BE49-F238E27FC236}">
                <a16:creationId xmlns:a16="http://schemas.microsoft.com/office/drawing/2014/main" id="{85F2B952-920F-62B3-73D9-289FC962AABD}"/>
              </a:ext>
            </a:extLst>
          </p:cNvPr>
          <p:cNvSpPr/>
          <p:nvPr/>
        </p:nvSpPr>
        <p:spPr>
          <a:xfrm>
            <a:off x="7804551" y="3309726"/>
            <a:ext cx="2333426" cy="239151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47970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BC29F3-AB1D-D434-A01D-B2593506D1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92A8B18-1CF1-A70B-7705-EFE90F02F57C}"/>
              </a:ext>
            </a:extLst>
          </p:cNvPr>
          <p:cNvSpPr txBox="1"/>
          <p:nvPr/>
        </p:nvSpPr>
        <p:spPr>
          <a:xfrm>
            <a:off x="1766230" y="510676"/>
            <a:ext cx="8656203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>
                <a:latin typeface="Times New Roman"/>
                <a:ea typeface="Calibri"/>
                <a:cs typeface="Calibri"/>
              </a:rPr>
              <a:t>Input / Output for Multiplying Modules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25D131C-3677-E8B8-8027-8AB93FADB6FE}"/>
              </a:ext>
            </a:extLst>
          </p:cNvPr>
          <p:cNvSpPr/>
          <p:nvPr/>
        </p:nvSpPr>
        <p:spPr>
          <a:xfrm>
            <a:off x="4721903" y="3022544"/>
            <a:ext cx="2748897" cy="81185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B82CDE-9846-F04C-6311-44D4CE55515E}"/>
              </a:ext>
            </a:extLst>
          </p:cNvPr>
          <p:cNvSpPr txBox="1"/>
          <p:nvPr/>
        </p:nvSpPr>
        <p:spPr>
          <a:xfrm>
            <a:off x="4601849" y="3161945"/>
            <a:ext cx="2974461" cy="9541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 err="1">
                <a:latin typeface="Times New Roman"/>
                <a:cs typeface="Times New Roman"/>
              </a:rPr>
              <a:t>SystolicMatrixMultiplier</a:t>
            </a:r>
            <a:endParaRPr lang="en-US" sz="2000">
              <a:latin typeface="Times New Roman"/>
              <a:cs typeface="Times New Roman"/>
            </a:endParaRPr>
          </a:p>
          <a:p>
            <a:pPr algn="ctr"/>
            <a:endParaRPr lang="en-US"/>
          </a:p>
          <a:p>
            <a:pPr algn="l"/>
            <a:endParaRPr lang="en-US">
              <a:ea typeface="Calibri"/>
              <a:cs typeface="Calibri"/>
            </a:endParaRP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A9EAE2EB-E631-37FF-41DF-3561B38F3EFC}"/>
              </a:ext>
            </a:extLst>
          </p:cNvPr>
          <p:cNvSpPr/>
          <p:nvPr/>
        </p:nvSpPr>
        <p:spPr>
          <a:xfrm>
            <a:off x="2265190" y="3342152"/>
            <a:ext cx="2333426" cy="239151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D8085DB-3676-2DA5-8C8C-296CE611E9C2}"/>
              </a:ext>
            </a:extLst>
          </p:cNvPr>
          <p:cNvSpPr txBox="1"/>
          <p:nvPr/>
        </p:nvSpPr>
        <p:spPr>
          <a:xfrm>
            <a:off x="2348174" y="3623375"/>
            <a:ext cx="1994018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200">
                <a:latin typeface="Times New Roman"/>
                <a:ea typeface="Calibri"/>
                <a:cs typeface="Calibri"/>
              </a:rPr>
              <a:t>Input</a:t>
            </a:r>
            <a:endParaRPr lang="en-US" sz="2200">
              <a:latin typeface="Times New Roman"/>
              <a:cs typeface="Times New Roman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F227510-1E5C-E318-CEB1-59BFA9F7924F}"/>
              </a:ext>
            </a:extLst>
          </p:cNvPr>
          <p:cNvSpPr txBox="1"/>
          <p:nvPr/>
        </p:nvSpPr>
        <p:spPr>
          <a:xfrm>
            <a:off x="7806471" y="3628779"/>
            <a:ext cx="1994018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200">
                <a:latin typeface="Times New Roman"/>
                <a:ea typeface="Calibri"/>
                <a:cs typeface="Calibri"/>
              </a:rPr>
              <a:t>Output</a:t>
            </a:r>
            <a:endParaRPr lang="en-US" sz="2200">
              <a:latin typeface="Times New Roman"/>
              <a:cs typeface="Times New Roman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8F4BBA5-6141-8E1A-9C30-0B92A491678F}"/>
              </a:ext>
            </a:extLst>
          </p:cNvPr>
          <p:cNvSpPr txBox="1"/>
          <p:nvPr/>
        </p:nvSpPr>
        <p:spPr>
          <a:xfrm>
            <a:off x="1082871" y="2511816"/>
            <a:ext cx="3518018" cy="7848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500" err="1">
                <a:latin typeface="Times New Roman"/>
                <a:cs typeface="Times New Roman"/>
              </a:rPr>
              <a:t>Clk</a:t>
            </a:r>
            <a:r>
              <a:rPr lang="en-US" sz="1500">
                <a:latin typeface="Times New Roman"/>
                <a:cs typeface="Times New Roman"/>
              </a:rPr>
              <a:t>, reset, clear, </a:t>
            </a:r>
            <a:r>
              <a:rPr lang="en-US" sz="1500">
                <a:latin typeface="Times New Roman"/>
                <a:cs typeface="Arial"/>
              </a:rPr>
              <a:t>A00, A01, A02, A10, A11, A12, A20, A21, A22, B00, B01, B02, B10, B11, B12, B20, B21, B22</a:t>
            </a:r>
            <a:endParaRPr lang="en-US" sz="1500">
              <a:latin typeface="Times New Roman"/>
              <a:cs typeface="Times New Roman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B932E7C-FDE9-4C6E-325C-30F75FBA085F}"/>
              </a:ext>
            </a:extLst>
          </p:cNvPr>
          <p:cNvSpPr txBox="1"/>
          <p:nvPr/>
        </p:nvSpPr>
        <p:spPr>
          <a:xfrm>
            <a:off x="7804826" y="2514059"/>
            <a:ext cx="3532221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C00, C01, C02, C10, C11, C12, C20, C21, C22</a:t>
            </a:r>
          </a:p>
        </p:txBody>
      </p:sp>
      <p:sp>
        <p:nvSpPr>
          <p:cNvPr id="3" name="Arrow: Right 2">
            <a:extLst>
              <a:ext uri="{FF2B5EF4-FFF2-40B4-BE49-F238E27FC236}">
                <a16:creationId xmlns:a16="http://schemas.microsoft.com/office/drawing/2014/main" id="{A3CED99B-B2FB-2844-6C47-FC3B902E4EDE}"/>
              </a:ext>
            </a:extLst>
          </p:cNvPr>
          <p:cNvSpPr/>
          <p:nvPr/>
        </p:nvSpPr>
        <p:spPr>
          <a:xfrm>
            <a:off x="7804551" y="3309726"/>
            <a:ext cx="2333426" cy="239151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871171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2B2CAB-0237-EE8C-5452-CF9E4E7529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AA46850-0F84-0C1B-F184-81448EF999F6}"/>
              </a:ext>
            </a:extLst>
          </p:cNvPr>
          <p:cNvSpPr txBox="1"/>
          <p:nvPr/>
        </p:nvSpPr>
        <p:spPr>
          <a:xfrm>
            <a:off x="1766230" y="510676"/>
            <a:ext cx="8656203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>
                <a:latin typeface="Times New Roman"/>
                <a:ea typeface="Calibri"/>
                <a:cs typeface="Calibri"/>
              </a:rPr>
              <a:t>Input / Output for Multiplying Modules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DED1B2D-CDDD-708E-5BBC-976384F0DB4B}"/>
              </a:ext>
            </a:extLst>
          </p:cNvPr>
          <p:cNvSpPr/>
          <p:nvPr/>
        </p:nvSpPr>
        <p:spPr>
          <a:xfrm>
            <a:off x="4554371" y="3022544"/>
            <a:ext cx="3062343" cy="82265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E9D732E-66C1-C2FE-4928-3F01AC8D7787}"/>
              </a:ext>
            </a:extLst>
          </p:cNvPr>
          <p:cNvSpPr txBox="1"/>
          <p:nvPr/>
        </p:nvSpPr>
        <p:spPr>
          <a:xfrm>
            <a:off x="4553211" y="3221392"/>
            <a:ext cx="3087950" cy="123110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 err="1">
                <a:latin typeface="Times New Roman"/>
                <a:cs typeface="Arial"/>
              </a:rPr>
              <a:t>SimplifiedMasterController</a:t>
            </a:r>
            <a:endParaRPr lang="en-US" sz="2000">
              <a:latin typeface="Times New Roman"/>
              <a:cs typeface="Times New Roman"/>
            </a:endParaRPr>
          </a:p>
          <a:p>
            <a:pPr algn="ctr"/>
            <a:endParaRPr lang="en-US"/>
          </a:p>
          <a:p>
            <a:pPr algn="ctr"/>
            <a:endParaRPr lang="en-US"/>
          </a:p>
          <a:p>
            <a:pPr algn="l"/>
            <a:endParaRPr lang="en-US">
              <a:ea typeface="Calibri"/>
              <a:cs typeface="Calibri"/>
            </a:endParaRP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B75A0FCA-9997-9EC1-1B98-C7BB0C0680D1}"/>
              </a:ext>
            </a:extLst>
          </p:cNvPr>
          <p:cNvSpPr/>
          <p:nvPr/>
        </p:nvSpPr>
        <p:spPr>
          <a:xfrm>
            <a:off x="2000381" y="3315131"/>
            <a:ext cx="2333426" cy="239151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CFD19C5-5E16-AD17-A983-D05DFB3080DD}"/>
              </a:ext>
            </a:extLst>
          </p:cNvPr>
          <p:cNvSpPr txBox="1"/>
          <p:nvPr/>
        </p:nvSpPr>
        <p:spPr>
          <a:xfrm>
            <a:off x="2348174" y="3623375"/>
            <a:ext cx="1994018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200">
                <a:latin typeface="Times New Roman"/>
                <a:ea typeface="Calibri"/>
                <a:cs typeface="Calibri"/>
              </a:rPr>
              <a:t>Input</a:t>
            </a:r>
            <a:endParaRPr lang="en-US" sz="2200">
              <a:latin typeface="Times New Roman"/>
              <a:cs typeface="Times New Roman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13CEDDD-5CB8-51C4-9BE1-D2E79E2A4AAF}"/>
              </a:ext>
            </a:extLst>
          </p:cNvPr>
          <p:cNvSpPr txBox="1"/>
          <p:nvPr/>
        </p:nvSpPr>
        <p:spPr>
          <a:xfrm>
            <a:off x="7806471" y="3628779"/>
            <a:ext cx="1994018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200">
                <a:latin typeface="Times New Roman"/>
                <a:ea typeface="Calibri"/>
                <a:cs typeface="Calibri"/>
              </a:rPr>
              <a:t>Output</a:t>
            </a:r>
            <a:endParaRPr lang="en-US" sz="2200">
              <a:latin typeface="Times New Roman"/>
              <a:cs typeface="Times New Roman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AF39F89-A353-21D2-CBF3-96A2A8950449}"/>
              </a:ext>
            </a:extLst>
          </p:cNvPr>
          <p:cNvSpPr txBox="1"/>
          <p:nvPr/>
        </p:nvSpPr>
        <p:spPr>
          <a:xfrm>
            <a:off x="1082871" y="2511816"/>
            <a:ext cx="3518018" cy="7848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500" err="1">
                <a:latin typeface="Times New Roman"/>
                <a:cs typeface="Times New Roman"/>
              </a:rPr>
              <a:t>Clk</a:t>
            </a:r>
            <a:r>
              <a:rPr lang="en-US" sz="1500">
                <a:latin typeface="Times New Roman"/>
                <a:cs typeface="Times New Roman"/>
              </a:rPr>
              <a:t>, reset, clear, </a:t>
            </a:r>
            <a:r>
              <a:rPr lang="en-US" sz="1500">
                <a:latin typeface="Times New Roman"/>
                <a:cs typeface="Arial"/>
              </a:rPr>
              <a:t>A00, A01, A02, A10, A11, A12, A20, A21, A22, B00, B01, B02, B10, B11, B12, B20, B21, B22</a:t>
            </a:r>
            <a:endParaRPr lang="en-US" sz="1500">
              <a:latin typeface="Times New Roman"/>
              <a:cs typeface="Times New Roman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3651A6E-F715-1435-B7E5-F51EEC1979C5}"/>
              </a:ext>
            </a:extLst>
          </p:cNvPr>
          <p:cNvSpPr txBox="1"/>
          <p:nvPr/>
        </p:nvSpPr>
        <p:spPr>
          <a:xfrm>
            <a:off x="7804826" y="2697804"/>
            <a:ext cx="3532221" cy="35394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700">
                <a:latin typeface="Times New Roman"/>
                <a:cs typeface="Arial"/>
              </a:rPr>
              <a:t>a1, a2, a3, b1, b2, b3, done, clear</a:t>
            </a:r>
            <a:endParaRPr lang="en-US" sz="1700">
              <a:latin typeface="Times New Roman"/>
              <a:cs typeface="Times New Roman"/>
            </a:endParaRPr>
          </a:p>
        </p:txBody>
      </p:sp>
      <p:sp>
        <p:nvSpPr>
          <p:cNvPr id="3" name="Arrow: Right 2">
            <a:extLst>
              <a:ext uri="{FF2B5EF4-FFF2-40B4-BE49-F238E27FC236}">
                <a16:creationId xmlns:a16="http://schemas.microsoft.com/office/drawing/2014/main" id="{9C7F6AB4-5519-7C85-E7E2-84F1DBBD8B95}"/>
              </a:ext>
            </a:extLst>
          </p:cNvPr>
          <p:cNvSpPr/>
          <p:nvPr/>
        </p:nvSpPr>
        <p:spPr>
          <a:xfrm>
            <a:off x="7804551" y="3309726"/>
            <a:ext cx="2333426" cy="239151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79675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F05345F-87C9-4A91-EBA4-DB99C1464BE0}"/>
              </a:ext>
            </a:extLst>
          </p:cNvPr>
          <p:cNvSpPr txBox="1"/>
          <p:nvPr/>
        </p:nvSpPr>
        <p:spPr>
          <a:xfrm>
            <a:off x="630936" y="2807208"/>
            <a:ext cx="3429000" cy="341071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/>
              <a:t>Block diagram</a:t>
            </a:r>
          </a:p>
        </p:txBody>
      </p:sp>
      <p:pic>
        <p:nvPicPr>
          <p:cNvPr id="4" name="Picture 3" descr="A diagram of a computer&#10;&#10;AI-generated content may be incorrect.">
            <a:extLst>
              <a:ext uri="{FF2B5EF4-FFF2-40B4-BE49-F238E27FC236}">
                <a16:creationId xmlns:a16="http://schemas.microsoft.com/office/drawing/2014/main" id="{F7EE9E66-8852-8DA4-B5E0-2DE1C2C4D7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7652" y="326198"/>
            <a:ext cx="7722018" cy="6177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681815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449F015-D24D-9807-F2E5-1CB252F21875}"/>
              </a:ext>
            </a:extLst>
          </p:cNvPr>
          <p:cNvSpPr txBox="1"/>
          <p:nvPr/>
        </p:nvSpPr>
        <p:spPr>
          <a:xfrm>
            <a:off x="3048000" y="513424"/>
            <a:ext cx="6096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400" dirty="0">
                <a:latin typeface="Times New Roman"/>
                <a:ea typeface="Calibri"/>
                <a:cs typeface="Calibri"/>
              </a:rPr>
              <a:t>UART base Modules</a:t>
            </a:r>
            <a:endParaRPr lang="en-IN" sz="4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E46CCA6-E579-7D60-1AF3-268E97B6444C}"/>
              </a:ext>
            </a:extLst>
          </p:cNvPr>
          <p:cNvSpPr txBox="1"/>
          <p:nvPr/>
        </p:nvSpPr>
        <p:spPr>
          <a:xfrm>
            <a:off x="629265" y="1927123"/>
            <a:ext cx="11012129" cy="33855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sz="2800" b="1" dirty="0" err="1"/>
              <a:t>uart_rx</a:t>
            </a:r>
            <a:r>
              <a:rPr lang="en-US" sz="2800" b="1" dirty="0"/>
              <a:t> : </a:t>
            </a:r>
            <a:r>
              <a:rPr lang="en-US" sz="2800" dirty="0"/>
              <a:t>This module reads </a:t>
            </a:r>
            <a:r>
              <a:rPr lang="en-US" sz="2800" dirty="0" err="1"/>
              <a:t>rx</a:t>
            </a:r>
            <a:r>
              <a:rPr lang="en-US" sz="2800" dirty="0"/>
              <a:t> line and based on baud rate, clock and oversampling rate returns am 8-bit number using majority voting and oversampling.</a:t>
            </a:r>
          </a:p>
          <a:p>
            <a:pPr marL="342900" indent="-342900">
              <a:buAutoNum type="arabicPeriod"/>
            </a:pPr>
            <a:endParaRPr lang="en-US" sz="2800" b="1" dirty="0"/>
          </a:p>
          <a:p>
            <a:pPr marL="342900" indent="-342900">
              <a:buAutoNum type="arabicPeriod"/>
            </a:pPr>
            <a:r>
              <a:rPr lang="en-US" sz="2800" b="1" dirty="0" err="1"/>
              <a:t>uart_tx</a:t>
            </a:r>
            <a:r>
              <a:rPr lang="en-US" sz="2800" b="1" dirty="0"/>
              <a:t> : </a:t>
            </a:r>
            <a:r>
              <a:rPr lang="en-US" sz="2800" dirty="0"/>
              <a:t>This module takes an 8-bit number as input and based on the baud rate and clock, toggles </a:t>
            </a:r>
            <a:r>
              <a:rPr lang="en-US" sz="2800" dirty="0" err="1"/>
              <a:t>tx</a:t>
            </a:r>
            <a:r>
              <a:rPr lang="en-US" sz="2800" dirty="0"/>
              <a:t> for transmission of this number after receiving a high signal in input </a:t>
            </a:r>
            <a:r>
              <a:rPr lang="en-US" sz="2800" dirty="0" err="1"/>
              <a:t>tx_start</a:t>
            </a:r>
            <a:r>
              <a:rPr lang="en-US" sz="2800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9730419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74686C-4F61-9210-4055-8D99B05802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E8E02BE-7E31-2AB0-610C-65A5C99BDF6C}"/>
              </a:ext>
            </a:extLst>
          </p:cNvPr>
          <p:cNvSpPr txBox="1"/>
          <p:nvPr/>
        </p:nvSpPr>
        <p:spPr>
          <a:xfrm>
            <a:off x="-4914" y="542921"/>
            <a:ext cx="12192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400" dirty="0">
                <a:latin typeface="Times New Roman"/>
                <a:ea typeface="Calibri"/>
                <a:cs typeface="Calibri"/>
              </a:rPr>
              <a:t>Controlling and Top Modules</a:t>
            </a:r>
            <a:endParaRPr lang="en-IN" sz="4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CFC8649-725B-20B1-251C-6F6B403630DD}"/>
              </a:ext>
            </a:extLst>
          </p:cNvPr>
          <p:cNvSpPr txBox="1"/>
          <p:nvPr/>
        </p:nvSpPr>
        <p:spPr>
          <a:xfrm>
            <a:off x="639097" y="2163097"/>
            <a:ext cx="11100619" cy="33855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sz="2800" b="1" dirty="0" err="1"/>
              <a:t>matrix_receive</a:t>
            </a:r>
            <a:r>
              <a:rPr lang="en-US" sz="2800" b="1" dirty="0"/>
              <a:t> : </a:t>
            </a:r>
            <a:r>
              <a:rPr lang="en-US" sz="2800" dirty="0"/>
              <a:t>Using the </a:t>
            </a:r>
            <a:r>
              <a:rPr lang="en-US" sz="2800" dirty="0" err="1"/>
              <a:t>uart_rx</a:t>
            </a:r>
            <a:r>
              <a:rPr lang="en-US" sz="2800" dirty="0"/>
              <a:t> module it reads and outputs the 18 input numbers ( 9 from each input matrix) from the </a:t>
            </a:r>
            <a:r>
              <a:rPr lang="en-US" sz="2800" dirty="0" err="1"/>
              <a:t>rx</a:t>
            </a:r>
            <a:r>
              <a:rPr lang="en-US" sz="2800" dirty="0"/>
              <a:t> line.</a:t>
            </a:r>
          </a:p>
          <a:p>
            <a:pPr marL="342900" indent="-342900">
              <a:buAutoNum type="arabicPeriod"/>
            </a:pPr>
            <a:endParaRPr lang="en-US" sz="2800" b="1" dirty="0"/>
          </a:p>
          <a:p>
            <a:pPr marL="342900" indent="-342900">
              <a:buFontTx/>
              <a:buAutoNum type="arabicPeriod"/>
            </a:pPr>
            <a:r>
              <a:rPr lang="en-US" sz="2800" b="1" dirty="0" err="1"/>
              <a:t>MatrixMultUARTTop</a:t>
            </a:r>
            <a:r>
              <a:rPr lang="en-US" sz="2800" b="1" dirty="0"/>
              <a:t> : </a:t>
            </a:r>
            <a:r>
              <a:rPr lang="en-US" sz="2800" dirty="0"/>
              <a:t>This is the top module integrating the UART architecture with the </a:t>
            </a:r>
            <a:r>
              <a:rPr lang="en-US" sz="2800" dirty="0" err="1">
                <a:latin typeface="Times New Roman"/>
                <a:ea typeface="Calibri"/>
                <a:cs typeface="Times New Roman"/>
              </a:rPr>
              <a:t>SystolicMatrixMultiplier</a:t>
            </a:r>
            <a:r>
              <a:rPr lang="en-US" sz="2800" dirty="0">
                <a:latin typeface="Times New Roman"/>
                <a:ea typeface="Calibri"/>
                <a:cs typeface="Times New Roman"/>
              </a:rPr>
              <a:t> module. It takes </a:t>
            </a:r>
            <a:r>
              <a:rPr lang="en-US" sz="2800" dirty="0" err="1">
                <a:latin typeface="Times New Roman"/>
                <a:ea typeface="Calibri"/>
                <a:cs typeface="Times New Roman"/>
              </a:rPr>
              <a:t>rx</a:t>
            </a:r>
            <a:r>
              <a:rPr lang="en-US" sz="2800" dirty="0">
                <a:latin typeface="Times New Roman"/>
                <a:ea typeface="Calibri"/>
                <a:cs typeface="Times New Roman"/>
              </a:rPr>
              <a:t> as input from which it reads all the inputs and after multiplication, returns each element of the output matrix in 3 byte representation on </a:t>
            </a:r>
            <a:r>
              <a:rPr lang="en-US" sz="2800" dirty="0" err="1">
                <a:latin typeface="Times New Roman"/>
                <a:ea typeface="Calibri"/>
                <a:cs typeface="Times New Roman"/>
              </a:rPr>
              <a:t>tx</a:t>
            </a:r>
            <a:r>
              <a:rPr lang="en-US" sz="2800" dirty="0">
                <a:latin typeface="Times New Roman"/>
                <a:ea typeface="Calibri"/>
                <a:cs typeface="Times New Roman"/>
              </a:rPr>
              <a:t>. </a:t>
            </a:r>
            <a:endParaRPr lang="en-US" sz="2800" dirty="0">
              <a:latin typeface="Times New Roman"/>
              <a:cs typeface="Times New Roman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1712038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D06104-0128-82E2-AFC5-DEEA2CA8D7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C00000"/>
                </a:solidFill>
                <a:latin typeface="Arial"/>
                <a:ea typeface="Calibri Light"/>
                <a:cs typeface="Arial"/>
              </a:rPr>
              <a:t>Error/Problems faced in Multiplications</a:t>
            </a:r>
            <a:endParaRPr lang="en-US" sz="4000" dirty="0">
              <a:solidFill>
                <a:srgbClr val="C00000"/>
              </a:solidFill>
              <a:latin typeface="Calibri Light"/>
              <a:ea typeface="Calibri Light"/>
              <a:cs typeface="Calibri Ligh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CDF7A4-3BB8-972B-B803-4E12CF7D4B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20000"/>
          </a:bodyPr>
          <a:lstStyle/>
          <a:p>
            <a:pPr>
              <a:buNone/>
            </a:pPr>
            <a:r>
              <a:rPr lang="en-US" sz="2600">
                <a:ea typeface="+mn-lt"/>
                <a:cs typeface="+mn-lt"/>
              </a:rPr>
              <a:t>To pass values to the Processing Elements (PEs), we considered two approaches:</a:t>
            </a:r>
            <a:endParaRPr lang="en-US" sz="2600">
              <a:ea typeface="Calibri"/>
              <a:cs typeface="Calibri"/>
            </a:endParaRPr>
          </a:p>
          <a:p>
            <a:pPr>
              <a:buNone/>
            </a:pPr>
            <a:endParaRPr lang="en-US" sz="2600">
              <a:ea typeface="+mn-lt"/>
              <a:cs typeface="+mn-lt"/>
            </a:endParaRPr>
          </a:p>
          <a:p>
            <a:pPr>
              <a:buFont typeface="Arial"/>
            </a:pPr>
            <a:r>
              <a:rPr lang="en-US" sz="2600">
                <a:ea typeface="+mn-lt"/>
                <a:cs typeface="+mn-lt"/>
              </a:rPr>
              <a:t>Store all input values initially, and then update the variables a1, a2, a3, b1, b2, b3 after each cycle (i.e., after each round of passing values to the PE's).</a:t>
            </a:r>
          </a:p>
          <a:p>
            <a:pPr>
              <a:buFont typeface="Arial"/>
            </a:pPr>
            <a:r>
              <a:rPr lang="en-US" sz="2600">
                <a:ea typeface="+mn-lt"/>
                <a:cs typeface="+mn-lt"/>
              </a:rPr>
              <a:t>Process inputs incrementally by accepting one set of values, running a cycle, and then repeating this process until all input values are exhausted.</a:t>
            </a:r>
          </a:p>
          <a:p>
            <a:pPr marL="0" indent="0">
              <a:buNone/>
            </a:pPr>
            <a:endParaRPr lang="en-US" sz="260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sz="2600">
                <a:ea typeface="+mn-lt"/>
                <a:cs typeface="+mn-lt"/>
              </a:rPr>
              <a:t>We chose the first approach, as in real-world scenarios, input values are typically made available all at once rather than being passed incrementally.</a:t>
            </a:r>
          </a:p>
          <a:p>
            <a:pPr marL="0" indent="0">
              <a:buNone/>
            </a:pPr>
            <a:endParaRPr lang="en-US" sz="3600">
              <a:latin typeface="Arial"/>
              <a:ea typeface="Calibri" panose="020F0502020204030204"/>
              <a:cs typeface="Arial"/>
            </a:endParaRPr>
          </a:p>
          <a:p>
            <a:pPr marL="0" indent="0">
              <a:buNone/>
            </a:pPr>
            <a:br>
              <a:rPr lang="en-US"/>
            </a:br>
            <a:endParaRPr lang="en-US"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45713197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80149A-1C18-3131-E0D6-098444E9ED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solidFill>
                  <a:schemeClr val="accent1"/>
                </a:solidFill>
                <a:ea typeface="Calibri Light"/>
                <a:cs typeface="Calibri Light"/>
              </a:rPr>
              <a:t>Unique Approaches</a:t>
            </a:r>
            <a:endParaRPr lang="en-US" b="1">
              <a:solidFill>
                <a:schemeClr val="accent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2EAEBC-D88E-9227-67CF-6E94037A1C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2600" dirty="0">
                <a:latin typeface="Arial"/>
                <a:cs typeface="Arial"/>
              </a:rPr>
              <a:t>We broke down our code into many modules which perform different functions and dependent on each other for task. We also made use of </a:t>
            </a:r>
            <a:r>
              <a:rPr lang="en-US" sz="2600" dirty="0" err="1">
                <a:latin typeface="Arial"/>
                <a:cs typeface="Arial"/>
              </a:rPr>
              <a:t>MasterController</a:t>
            </a:r>
            <a:r>
              <a:rPr lang="en-US" sz="2600" dirty="0">
                <a:latin typeface="Arial"/>
                <a:cs typeface="Arial"/>
              </a:rPr>
              <a:t> and Simplified </a:t>
            </a:r>
            <a:r>
              <a:rPr lang="en-US" sz="2600" dirty="0" err="1">
                <a:latin typeface="Arial"/>
                <a:cs typeface="Arial"/>
              </a:rPr>
              <a:t>MasterController</a:t>
            </a:r>
            <a:r>
              <a:rPr lang="en-US" sz="2600" dirty="0">
                <a:latin typeface="Arial"/>
                <a:cs typeface="Arial"/>
              </a:rPr>
              <a:t>  modules to control and update flow of data.</a:t>
            </a:r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24134849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6938B9-0BAC-2146-F645-66C6D7B702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97691"/>
            <a:ext cx="10515600" cy="4579272"/>
          </a:xfrm>
        </p:spPr>
        <p:txBody>
          <a:bodyPr/>
          <a:lstStyle/>
          <a:p>
            <a:r>
              <a:rPr lang="en-US" dirty="0"/>
              <a:t>Our UART </a:t>
            </a:r>
            <a:r>
              <a:rPr lang="en-US" dirty="0" err="1"/>
              <a:t>tx</a:t>
            </a:r>
            <a:r>
              <a:rPr lang="en-US" dirty="0"/>
              <a:t> output was skipping even indexed outputs. </a:t>
            </a:r>
          </a:p>
          <a:p>
            <a:r>
              <a:rPr lang="en-US" dirty="0"/>
              <a:t>When we were expecting the outputs to be A, B, C and D, we received outputs A, A, C and C. </a:t>
            </a:r>
          </a:p>
          <a:p>
            <a:r>
              <a:rPr lang="en-US" dirty="0"/>
              <a:t>It was caused due to flags being turned on for more cycles then required causing overlap of flags. Solved this by adding buffer states.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1800" dirty="0">
                <a:latin typeface="Lucida Console" panose="020B0609040504020204" pitchFamily="49" charset="0"/>
              </a:rPr>
              <a:t>T_ASSERT: Assert </a:t>
            </a:r>
            <a:r>
              <a:rPr lang="en-US" sz="1800" dirty="0" err="1">
                <a:latin typeface="Lucida Console" panose="020B0609040504020204" pitchFamily="49" charset="0"/>
              </a:rPr>
              <a:t>tx_start</a:t>
            </a:r>
            <a:r>
              <a:rPr lang="en-US" sz="1800" dirty="0">
                <a:latin typeface="Lucida Console" panose="020B0609040504020204" pitchFamily="49" charset="0"/>
              </a:rPr>
              <a:t> for one cycle.</a:t>
            </a:r>
          </a:p>
          <a:p>
            <a:pPr marL="0" indent="0">
              <a:buNone/>
            </a:pPr>
            <a:r>
              <a:rPr lang="en-US" sz="1800" dirty="0">
                <a:latin typeface="Lucida Console" panose="020B0609040504020204" pitchFamily="49" charset="0"/>
              </a:rPr>
              <a:t>T_WAIT_HIGH: Wait for </a:t>
            </a:r>
            <a:r>
              <a:rPr lang="en-US" sz="1800" dirty="0" err="1">
                <a:latin typeface="Lucida Console" panose="020B0609040504020204" pitchFamily="49" charset="0"/>
              </a:rPr>
              <a:t>tx_busy</a:t>
            </a:r>
            <a:r>
              <a:rPr lang="en-US" sz="1800" dirty="0">
                <a:latin typeface="Lucida Console" panose="020B0609040504020204" pitchFamily="49" charset="0"/>
              </a:rPr>
              <a:t> to become high.</a:t>
            </a:r>
          </a:p>
          <a:p>
            <a:pPr marL="0" indent="0">
              <a:buNone/>
            </a:pPr>
            <a:r>
              <a:rPr lang="en-US" sz="1800" dirty="0" err="1">
                <a:latin typeface="Lucida Console" panose="020B0609040504020204" pitchFamily="49" charset="0"/>
              </a:rPr>
              <a:t>T_WAIT_LOW:Wait</a:t>
            </a:r>
            <a:r>
              <a:rPr lang="en-US" sz="1800" dirty="0">
                <a:latin typeface="Lucida Console" panose="020B0609040504020204" pitchFamily="49" charset="0"/>
              </a:rPr>
              <a:t> for </a:t>
            </a:r>
            <a:r>
              <a:rPr lang="en-US" sz="1800" dirty="0" err="1">
                <a:latin typeface="Lucida Console" panose="020B0609040504020204" pitchFamily="49" charset="0"/>
              </a:rPr>
              <a:t>tx_busy</a:t>
            </a:r>
            <a:r>
              <a:rPr lang="en-US" sz="1800" dirty="0">
                <a:latin typeface="Lucida Console" panose="020B0609040504020204" pitchFamily="49" charset="0"/>
              </a:rPr>
              <a:t> to become low.</a:t>
            </a:r>
            <a:endParaRPr lang="en-IN" sz="1800" dirty="0">
              <a:latin typeface="Lucida Console" panose="020B0609040504020204" pitchFamily="49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F95C768-9DC5-33F3-B558-10C8AC6380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2128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C00000"/>
                </a:solidFill>
                <a:latin typeface="Arial"/>
                <a:ea typeface="Calibri Light"/>
                <a:cs typeface="Arial"/>
              </a:rPr>
              <a:t>Error/Problems faced in UART</a:t>
            </a:r>
            <a:endParaRPr lang="en-US" sz="4000" dirty="0">
              <a:solidFill>
                <a:srgbClr val="C00000"/>
              </a:solidFill>
              <a:latin typeface="Calibri Light"/>
              <a:ea typeface="Calibri Light"/>
              <a:cs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193929796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CEB76-2EA9-E0BE-9568-B3302CEDC1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84AC0B-EA80-736E-F0CD-49EF72497B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faced similar errors in </a:t>
            </a:r>
            <a:r>
              <a:rPr lang="en-US" dirty="0" err="1"/>
              <a:t>matrix_receive</a:t>
            </a:r>
            <a:r>
              <a:rPr lang="en-US" dirty="0"/>
              <a:t> module too. </a:t>
            </a:r>
          </a:p>
          <a:p>
            <a:r>
              <a:rPr lang="en-US" dirty="0"/>
              <a:t>The </a:t>
            </a:r>
            <a:r>
              <a:rPr lang="en-US" dirty="0" err="1"/>
              <a:t>rx_done</a:t>
            </a:r>
            <a:r>
              <a:rPr lang="en-US" dirty="0"/>
              <a:t> signal was being turned on for more than 1 cycles and should have been detected only once.</a:t>
            </a:r>
          </a:p>
          <a:p>
            <a:r>
              <a:rPr lang="en-US" dirty="0"/>
              <a:t>Thus, we changed the code to  detect positive edge in this signal by storing its value from the previous cycle in </a:t>
            </a:r>
            <a:r>
              <a:rPr lang="en-US" dirty="0" err="1"/>
              <a:t>rx_done_d</a:t>
            </a:r>
            <a:r>
              <a:rPr lang="en-US" dirty="0"/>
              <a:t>.</a:t>
            </a:r>
            <a:endParaRPr lang="en-IN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5F97347-2412-CC1B-3CC7-D6410973D0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2128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C00000"/>
                </a:solidFill>
                <a:latin typeface="Arial"/>
                <a:ea typeface="Calibri Light"/>
                <a:cs typeface="Arial"/>
              </a:rPr>
              <a:t>Error/Problems faced in UART</a:t>
            </a:r>
            <a:endParaRPr lang="en-US" sz="4000" dirty="0">
              <a:solidFill>
                <a:srgbClr val="C00000"/>
              </a:solidFill>
              <a:latin typeface="Calibri Light"/>
              <a:ea typeface="Calibri Light"/>
              <a:cs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75869497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E46FB5-A5C7-D6D2-C43B-47EF448DD3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Implementation on FPGA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1519E0-FE02-379E-CF9E-510A05DEF1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 </a:t>
            </a:r>
            <a:r>
              <a:rPr lang="en-IN" dirty="0">
                <a:hlinkClick r:id="rId2"/>
              </a:rPr>
              <a:t>Recordings Links</a:t>
            </a:r>
            <a:endParaRPr lang="en-IN" dirty="0"/>
          </a:p>
          <a:p>
            <a:r>
              <a:rPr lang="en-IN" dirty="0"/>
              <a:t>Note: To see the </a:t>
            </a:r>
            <a:r>
              <a:rPr lang="en-IN" dirty="0" err="1"/>
              <a:t>rx</a:t>
            </a:r>
            <a:r>
              <a:rPr lang="en-IN" dirty="0"/>
              <a:t> and </a:t>
            </a:r>
            <a:r>
              <a:rPr lang="en-IN" dirty="0" err="1"/>
              <a:t>tx</a:t>
            </a:r>
            <a:r>
              <a:rPr lang="en-IN" dirty="0"/>
              <a:t> LED flickering on the FPGA board, see the slow motion recording.</a:t>
            </a:r>
          </a:p>
        </p:txBody>
      </p:sp>
    </p:spTree>
    <p:extLst>
      <p:ext uri="{BB962C8B-B14F-4D97-AF65-F5344CB8AC3E}">
        <p14:creationId xmlns:p14="http://schemas.microsoft.com/office/powerpoint/2010/main" val="201799941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DCD680-7907-60B0-1E86-F1AB4EE03C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3F80F9-74BA-929E-AEE9-04CE2AA4D0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hlinkClick r:id="rId2"/>
              </a:rPr>
              <a:t>UART implementation by </a:t>
            </a:r>
            <a:r>
              <a:rPr lang="en-IN" dirty="0" err="1">
                <a:hlinkClick r:id="rId2"/>
              </a:rPr>
              <a:t>Shubhayu</a:t>
            </a:r>
            <a:r>
              <a:rPr lang="en-IN" dirty="0">
                <a:hlinkClick r:id="rId2"/>
              </a:rPr>
              <a:t> Das</a:t>
            </a:r>
            <a:endParaRPr lang="en-IN" dirty="0"/>
          </a:p>
          <a:p>
            <a:r>
              <a:rPr lang="en-IN" dirty="0">
                <a:hlinkClick r:id="rId3"/>
              </a:rPr>
              <a:t>Matrix Multiplication using Systolic Arrays, video</a:t>
            </a:r>
            <a:endParaRPr lang="en-IN" dirty="0"/>
          </a:p>
          <a:p>
            <a:r>
              <a:rPr lang="en-US" i="0" dirty="0">
                <a:solidFill>
                  <a:srgbClr val="000000"/>
                </a:solidFill>
                <a:effectLst/>
                <a:hlinkClick r:id="rId4"/>
              </a:rPr>
              <a:t>Matrix Multiplication on a Weight-Stationary Systolic Architecture</a:t>
            </a:r>
            <a:endParaRPr lang="en-US" i="0" dirty="0">
              <a:solidFill>
                <a:srgbClr val="000000"/>
              </a:solidFill>
              <a:effectLst/>
            </a:endParaRPr>
          </a:p>
          <a:p>
            <a:r>
              <a:rPr lang="en-US" dirty="0">
                <a:solidFill>
                  <a:srgbClr val="000000"/>
                </a:solidFill>
                <a:hlinkClick r:id="rId5"/>
              </a:rPr>
              <a:t>Systolic Arrays PPT Animation</a:t>
            </a:r>
            <a:r>
              <a:rPr lang="en-US" dirty="0">
                <a:solidFill>
                  <a:srgbClr val="000000"/>
                </a:solidFill>
              </a:rPr>
              <a:t>  </a:t>
            </a:r>
            <a:endParaRPr lang="en-US" i="0" dirty="0">
              <a:solidFill>
                <a:srgbClr val="000000"/>
              </a:solidFill>
              <a:effectLst/>
            </a:endParaRP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405313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acdc55d8-81cf-4b5f-bfc3-063a6868f920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B4F4B4135000D4181A6D4A3C7E9CECB" ma:contentTypeVersion="14" ma:contentTypeDescription="Create a new document." ma:contentTypeScope="" ma:versionID="d06d9371c3b12646f3b0b0990eaeb81d">
  <xsd:schema xmlns:xsd="http://www.w3.org/2001/XMLSchema" xmlns:xs="http://www.w3.org/2001/XMLSchema" xmlns:p="http://schemas.microsoft.com/office/2006/metadata/properties" xmlns:ns3="acdc55d8-81cf-4b5f-bfc3-063a6868f920" xmlns:ns4="7018f684-6a97-4166-b794-1d9b5db6642b" targetNamespace="http://schemas.microsoft.com/office/2006/metadata/properties" ma:root="true" ma:fieldsID="939cd0cb1d33e11e2e409e27c6ac9941" ns3:_="" ns4:_="">
    <xsd:import namespace="acdc55d8-81cf-4b5f-bfc3-063a6868f920"/>
    <xsd:import namespace="7018f684-6a97-4166-b794-1d9b5db6642b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GenerationTime" minOccurs="0"/>
                <xsd:element ref="ns3:MediaServiceEventHashCode" minOccurs="0"/>
                <xsd:element ref="ns3:MediaServiceSystemTags" minOccurs="0"/>
                <xsd:element ref="ns3:MediaServiceDateTaken" minOccurs="0"/>
                <xsd:element ref="ns3:MediaLengthInSeconds" minOccurs="0"/>
                <xsd:element ref="ns3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cdc55d8-81cf-4b5f-bfc3-063a6868f92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ystemTags" ma:index="18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018f684-6a97-4166-b794-1d9b5db6642b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5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B31E2B6-9CEC-4D91-9D06-92AAA7A94F10}">
  <ds:schemaRefs>
    <ds:schemaRef ds:uri="http://www.w3.org/XML/1998/namespace"/>
    <ds:schemaRef ds:uri="http://schemas.microsoft.com/office/2006/metadata/properties"/>
    <ds:schemaRef ds:uri="http://purl.org/dc/dcmitype/"/>
    <ds:schemaRef ds:uri="http://schemas.microsoft.com/office/2006/documentManagement/types"/>
    <ds:schemaRef ds:uri="http://purl.org/dc/elements/1.1/"/>
    <ds:schemaRef ds:uri="acdc55d8-81cf-4b5f-bfc3-063a6868f920"/>
    <ds:schemaRef ds:uri="http://schemas.microsoft.com/office/infopath/2007/PartnerControls"/>
    <ds:schemaRef ds:uri="http://schemas.openxmlformats.org/package/2006/metadata/core-properties"/>
    <ds:schemaRef ds:uri="7018f684-6a97-4166-b794-1d9b5db6642b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C830EC35-9E5E-4B03-B83D-75DFA5A8AAAA}">
  <ds:schemaRefs>
    <ds:schemaRef ds:uri="7018f684-6a97-4166-b794-1d9b5db6642b"/>
    <ds:schemaRef ds:uri="acdc55d8-81cf-4b5f-bfc3-063a6868f920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97BC2885-2264-44FA-AF28-9D1C6D88142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1616</Words>
  <Application>Microsoft Office PowerPoint</Application>
  <PresentationFormat>Widescreen</PresentationFormat>
  <Paragraphs>279</Paragraphs>
  <Slides>30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1" baseType="lpstr">
      <vt:lpstr>Office Theme</vt:lpstr>
      <vt:lpstr>Systolic Arrays </vt:lpstr>
      <vt:lpstr>Problem Statement</vt:lpstr>
      <vt:lpstr>3 x 3 Matrix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Error/Problems faced in Multiplications</vt:lpstr>
      <vt:lpstr>Unique Approaches</vt:lpstr>
      <vt:lpstr>Error/Problems faced in UART</vt:lpstr>
      <vt:lpstr>Error/Problems faced in UART</vt:lpstr>
      <vt:lpstr>Implementation on FPGA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Matrix Multiplication</dc:title>
  <dc:creator>SYED ZAID IRSHAD</dc:creator>
  <cp:lastModifiedBy>Mohit</cp:lastModifiedBy>
  <cp:revision>7</cp:revision>
  <dcterms:created xsi:type="dcterms:W3CDTF">2016-11-27T16:46:46Z</dcterms:created>
  <dcterms:modified xsi:type="dcterms:W3CDTF">2025-04-18T17:58:35Z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0x0101004B4F4B4135000D4181A6D4A3C7E9CECB</vt:lpwstr>
  </property>
</Properties>
</file>